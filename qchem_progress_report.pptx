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2912b8164aa4c45" /><Relationship Type="http://schemas.openxmlformats.org/package/2006/relationships/metadata/core-properties" Target="/docProps/core.xml" Id="Re24dd4b3e93e478f" /><Relationship Type="http://schemas.openxmlformats.org/officeDocument/2006/relationships/extended-properties" Target="/docProps/app.xml" Id="R2013d05dbd17423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de975e4c0454f27"/>
    <p:sldId id="257" r:id="R05479fb15c7a4446"/>
    <p:sldId id="258" r:id="R3d75e245757449a6"/>
    <p:sldId id="259" r:id="R77a407689f3c485e"/>
    <p:sldId id="260" r:id="Rf45211a542054c94"/>
    <p:sldId id="261" r:id="R9a18b1e6f152440e"/>
    <p:sldId id="262" r:id="R4a2c14ba3e1c4636"/>
    <p:sldId id="263" r:id="R432198d78e6e40ee"/>
    <p:sldId id="264" r:id="Rda5522fdddf74f5a"/>
    <p:sldId id="265" r:id="R3f260981c4074a6e"/>
    <p:sldId id="266" r:id="Re3a2d12c8cb44cec"/>
    <p:sldId id="267" r:id="Rdea6dac906e14ab0"/>
    <p:sldId id="268" r:id="R2ef44b1d245145a9"/>
    <p:sldId id="269" r:id="R05e91527b96c4510"/>
    <p:sldId id="270" r:id="R244b514d491d4122"/>
    <p:sldId id="271" r:id="R2eebab3e96884d0d"/>
    <p:sldId id="272" r:id="Re4932a4634c6480a"/>
    <p:sldId id="273" r:id="R125757cdfeed40e5"/>
    <p:sldId id="274" r:id="R24e027865c904795"/>
    <p:sldId id="275" r:id="R759c8ffcc5dc441c"/>
    <p:sldId id="276" r:id="Rfa87b2085f184ff1"/>
    <p:sldId id="277" r:id="R7d9ccb9ee9474d22"/>
    <p:sldId id="278" r:id="Rd0f0697445b64fda"/>
    <p:sldId id="279" r:id="R8efac7e67e414289"/>
    <p:sldId id="280" r:id="Rf9006021d24b42ad"/>
    <p:sldId id="281" r:id="R2213cf1491254176"/>
    <p:sldId id="282" r:id="Rb91e02980a7e4548"/>
    <p:sldId id="283" r:id="R678284c151594e6b"/>
    <p:sldId id="284" r:id="Rca4910bc2b4e4350"/>
    <p:sldId id="285" r:id="R17ce52b7cb284af0"/>
    <p:sldId id="286" r:id="R7d495a2b495d4d8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de975e4c0454f27" /><Relationship Type="http://schemas.openxmlformats.org/officeDocument/2006/relationships/slide" Target="/ppt/slides/slide2.xml" Id="R05479fb15c7a4446" /><Relationship Type="http://schemas.openxmlformats.org/officeDocument/2006/relationships/slide" Target="/ppt/slides/slide3.xml" Id="R3d75e245757449a6" /><Relationship Type="http://schemas.openxmlformats.org/officeDocument/2006/relationships/slide" Target="/ppt/slides/slide4.xml" Id="R77a407689f3c485e" /><Relationship Type="http://schemas.openxmlformats.org/officeDocument/2006/relationships/slide" Target="/ppt/slides/slide5.xml" Id="Rf45211a542054c94" /><Relationship Type="http://schemas.openxmlformats.org/officeDocument/2006/relationships/slide" Target="/ppt/slides/slide6.xml" Id="R9a18b1e6f152440e" /><Relationship Type="http://schemas.openxmlformats.org/officeDocument/2006/relationships/slide" Target="/ppt/slides/slide7.xml" Id="R4a2c14ba3e1c4636" /><Relationship Type="http://schemas.openxmlformats.org/officeDocument/2006/relationships/slide" Target="/ppt/slides/slide8.xml" Id="R432198d78e6e40ee" /><Relationship Type="http://schemas.openxmlformats.org/officeDocument/2006/relationships/slide" Target="/ppt/slides/slide9.xml" Id="Rda5522fdddf74f5a" /><Relationship Type="http://schemas.openxmlformats.org/officeDocument/2006/relationships/slide" Target="/ppt/slides/slide10.xml" Id="R3f260981c4074a6e" /><Relationship Type="http://schemas.openxmlformats.org/officeDocument/2006/relationships/slide" Target="/ppt/slides/slide11.xml" Id="Re3a2d12c8cb44cec" /><Relationship Type="http://schemas.openxmlformats.org/officeDocument/2006/relationships/slide" Target="/ppt/slides/slide12.xml" Id="Rdea6dac906e14ab0" /><Relationship Type="http://schemas.openxmlformats.org/officeDocument/2006/relationships/slide" Target="/ppt/slides/slide13.xml" Id="R2ef44b1d245145a9" /><Relationship Type="http://schemas.openxmlformats.org/officeDocument/2006/relationships/slide" Target="/ppt/slides/slide14.xml" Id="R05e91527b96c4510" /><Relationship Type="http://schemas.openxmlformats.org/officeDocument/2006/relationships/slide" Target="/ppt/slides/slide15.xml" Id="R244b514d491d4122" /><Relationship Type="http://schemas.openxmlformats.org/officeDocument/2006/relationships/slide" Target="/ppt/slides/slide16.xml" Id="R2eebab3e96884d0d" /><Relationship Type="http://schemas.openxmlformats.org/officeDocument/2006/relationships/slide" Target="/ppt/slides/slide17.xml" Id="Re4932a4634c6480a" /><Relationship Type="http://schemas.openxmlformats.org/officeDocument/2006/relationships/slide" Target="/ppt/slides/slide18.xml" Id="R125757cdfeed40e5" /><Relationship Type="http://schemas.openxmlformats.org/officeDocument/2006/relationships/slide" Target="/ppt/slides/slide19.xml" Id="R24e027865c904795" /><Relationship Type="http://schemas.openxmlformats.org/officeDocument/2006/relationships/slide" Target="/ppt/slides/slide20.xml" Id="R759c8ffcc5dc441c" /><Relationship Type="http://schemas.openxmlformats.org/officeDocument/2006/relationships/slide" Target="/ppt/slides/slide21.xml" Id="Rfa87b2085f184ff1" /><Relationship Type="http://schemas.openxmlformats.org/officeDocument/2006/relationships/slide" Target="/ppt/slides/slide22.xml" Id="R7d9ccb9ee9474d22" /><Relationship Type="http://schemas.openxmlformats.org/officeDocument/2006/relationships/slide" Target="/ppt/slides/slide23.xml" Id="Rd0f0697445b64fda" /><Relationship Type="http://schemas.openxmlformats.org/officeDocument/2006/relationships/slide" Target="/ppt/slides/slide24.xml" Id="R8efac7e67e414289" /><Relationship Type="http://schemas.openxmlformats.org/officeDocument/2006/relationships/slide" Target="/ppt/slides/slide25.xml" Id="Rf9006021d24b42ad" /><Relationship Type="http://schemas.openxmlformats.org/officeDocument/2006/relationships/slide" Target="/ppt/slides/slide26.xml" Id="R2213cf1491254176" /><Relationship Type="http://schemas.openxmlformats.org/officeDocument/2006/relationships/slide" Target="/ppt/slides/slide27.xml" Id="Rb91e02980a7e4548" /><Relationship Type="http://schemas.openxmlformats.org/officeDocument/2006/relationships/slide" Target="/ppt/slides/slide28.xml" Id="R678284c151594e6b" /><Relationship Type="http://schemas.openxmlformats.org/officeDocument/2006/relationships/slide" Target="/ppt/slides/slide29.xml" Id="Rca4910bc2b4e4350" /><Relationship Type="http://schemas.openxmlformats.org/officeDocument/2006/relationships/slide" Target="/ppt/slides/slide30.xml" Id="R17ce52b7cb284af0" /><Relationship Type="http://schemas.openxmlformats.org/officeDocument/2006/relationships/slide" Target="/ppt/slides/slide31.xml" Id="R7d495a2b495d4d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开场白，欢迎大家参加组会。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进入第 01 部分：为什么作为硬件公司要做本工程？。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讲解内容：硬件公司的破局点。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对比卡片讲解：硬件与应用双轮驱动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讲解内容：构建开源工作流平台的战略价值。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讲解内容：为什么不能直接用已有的开源工具？。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讲解内容：我们的定位。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进入第 02 部分：竞品分析：InQuanto 与 Tangelo。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对比卡片讲解：InQuanto：商业平台标杆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讲解内容：InQuanto 工作流原理。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对比卡片讲解：Tangelo：开源工具箱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讲解内容：Tangelo 工作流原理。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工作流与复现性对比(分数)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讲解内容：竞品分析总结。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进入第 03 部分：我们的优劣势与应对策略。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对比卡片讲解：我们的核心优势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对比卡片讲解：目前的劣势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讲解内容：策略：我们要做什么？。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讲解内容：竞争定调：P0 到 P3。</a:t>
            </a:r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进入第 04 部分：接下来的计划与架构设计。</a:t>
            </a:r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讲解内容：整体架构设计：从前向后填。</a:t>
            </a:r>
          </a:p>
        </p:txBody>
      </p:sp>
    </p:spTree>
  </p:cSld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对比卡片讲解：模块间交互流 (Data Flow)</a:t>
            </a:r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讲解内容：第一步：快速复现竞品功能。</a:t>
            </a:r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讲解内容：第二步：文献复现与新算法支持。</a:t>
            </a:r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讲解内容：第三步：API接入ML与自研MD。</a:t>
            </a:r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讲解内容：最终目标：端到端全连通。</a:t>
            </a:r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讲解内容：近期执行路线 (Roadmap)。</a:t>
            </a:r>
          </a:p>
        </p:txBody>
      </p:sp>
    </p:spTree>
  </p:cSld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讲解内容：补充架构细节：编译与作业投递。</a:t>
            </a:r>
          </a:p>
        </p:txBody>
      </p:sp>
    </p:spTree>
  </p:cSld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讲解内容：补充架构细节：Repro与Parity系统。</a:t>
            </a:r>
          </a:p>
        </p:txBody>
      </p:sp>
    </p:spTree>
  </p:cSld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讲解内容：团队协作与质量保证。</a:t>
            </a:r>
          </a:p>
        </p:txBody>
      </p:sp>
    </p:spTree>
  </p:cSld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开场白，欢迎大家参加组会。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0e8d001a149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9b70e990842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1fb81219d84a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24130f7c848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a4ab874ea487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1973d30f2784e8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1009a9fe84313" /><Relationship Type="http://schemas.openxmlformats.org/officeDocument/2006/relationships/notesSlide" Target="/ppt/notesSlides/notesSlide1.xml" Id="R53a4b8de48a941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4ece5b9fc4f4e" /><Relationship Type="http://schemas.openxmlformats.org/officeDocument/2006/relationships/notesSlide" Target="/ppt/notesSlides/notesSlide2.xml" Id="R6cece2c6e9374b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96a2134e54aab" /><Relationship Type="http://schemas.openxmlformats.org/officeDocument/2006/relationships/notesSlide" Target="/ppt/notesSlides/notesSlide3.xml" Id="Rc2d6bdc3c3ef4f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a8cacb6f842e3" /><Relationship Type="http://schemas.openxmlformats.org/officeDocument/2006/relationships/notesSlide" Target="/ppt/notesSlides/notesSlide4.xml" Id="R5151d3b3ad974a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660e09fff44e0" /><Relationship Type="http://schemas.openxmlformats.org/officeDocument/2006/relationships/notesSlide" Target="/ppt/notesSlides/notesSlide5.xml" Id="Rafb0eb9b8ee24b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4dd2783cc47b3" /><Relationship Type="http://schemas.openxmlformats.org/officeDocument/2006/relationships/notesSlide" Target="/ppt/notesSlides/notesSlide6.xml" Id="R585a64897fe64c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92f404b254a22" /><Relationship Type="http://schemas.openxmlformats.org/officeDocument/2006/relationships/notesSlide" Target="/ppt/notesSlides/notesSlide7.xml" Id="R1ceb04b65af049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992a711404146" /><Relationship Type="http://schemas.openxmlformats.org/officeDocument/2006/relationships/notesSlide" Target="/ppt/notesSlides/notesSlide8.xml" Id="R025654467f3548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8c5c1116d476f" /><Relationship Type="http://schemas.openxmlformats.org/officeDocument/2006/relationships/notesSlide" Target="/ppt/notesSlides/notesSlide9.xml" Id="Rb55cbea7858444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26a320b8e4228" /><Relationship Type="http://schemas.openxmlformats.org/officeDocument/2006/relationships/notesSlide" Target="/ppt/notesSlides/notesSlide10.xml" Id="Rc4957369f49f49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a70636b254fc8" /><Relationship Type="http://schemas.openxmlformats.org/officeDocument/2006/relationships/notesSlide" Target="/ppt/notesSlides/notesSlide11.xml" Id="R309e0e9b73214a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222ee02b845f5" /><Relationship Type="http://schemas.openxmlformats.org/officeDocument/2006/relationships/notesSlide" Target="/ppt/notesSlides/notesSlide12.xml" Id="R11d4915888744c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996c6cd56457a" /><Relationship Type="http://schemas.openxmlformats.org/officeDocument/2006/relationships/chart" Target="/ppt/slides/charts/chart1.xml" Id="R998dd4b427344df3" /><Relationship Type="http://schemas.openxmlformats.org/officeDocument/2006/relationships/notesSlide" Target="/ppt/notesSlides/notesSlide13.xml" Id="R37ba7ac2d11744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cdcfc06ff494e" /><Relationship Type="http://schemas.openxmlformats.org/officeDocument/2006/relationships/notesSlide" Target="/ppt/notesSlides/notesSlide14.xml" Id="Rb09446320bf840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ee6240bca4345" /><Relationship Type="http://schemas.openxmlformats.org/officeDocument/2006/relationships/notesSlide" Target="/ppt/notesSlides/notesSlide15.xml" Id="R6c8dfc4c682b45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83104a78b46d7" /><Relationship Type="http://schemas.openxmlformats.org/officeDocument/2006/relationships/notesSlide" Target="/ppt/notesSlides/notesSlide16.xml" Id="Rd46fe8eda93143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39ad0885946bd" /><Relationship Type="http://schemas.openxmlformats.org/officeDocument/2006/relationships/notesSlide" Target="/ppt/notesSlides/notesSlide17.xml" Id="R119510b9767d4f6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f35f766884786" /><Relationship Type="http://schemas.openxmlformats.org/officeDocument/2006/relationships/notesSlide" Target="/ppt/notesSlides/notesSlide18.xml" Id="R52aed71d208841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980c9102947ae" /><Relationship Type="http://schemas.openxmlformats.org/officeDocument/2006/relationships/notesSlide" Target="/ppt/notesSlides/notesSlide19.xml" Id="Ra9ffcbba0baa4f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80522b40a4555" /><Relationship Type="http://schemas.openxmlformats.org/officeDocument/2006/relationships/notesSlide" Target="/ppt/notesSlides/notesSlide20.xml" Id="R53d4ac62a13743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1a603da4c4695" /><Relationship Type="http://schemas.openxmlformats.org/officeDocument/2006/relationships/notesSlide" Target="/ppt/notesSlides/notesSlide21.xml" Id="R81ecca91466c48e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2266d673f41d0" /><Relationship Type="http://schemas.openxmlformats.org/officeDocument/2006/relationships/notesSlide" Target="/ppt/notesSlides/notesSlide22.xml" Id="R1dab8bdab1524f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4bbe33297493c" /><Relationship Type="http://schemas.openxmlformats.org/officeDocument/2006/relationships/notesSlide" Target="/ppt/notesSlides/notesSlide23.xml" Id="R9a630318d43146a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2667d09b745ad" /><Relationship Type="http://schemas.openxmlformats.org/officeDocument/2006/relationships/notesSlide" Target="/ppt/notesSlides/notesSlide24.xml" Id="R6b7c04b8d4ac46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013c16f7b4dbc" /><Relationship Type="http://schemas.openxmlformats.org/officeDocument/2006/relationships/notesSlide" Target="/ppt/notesSlides/notesSlide25.xml" Id="R36e0eb6f41c9473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37de844ff4bf2" /><Relationship Type="http://schemas.openxmlformats.org/officeDocument/2006/relationships/notesSlide" Target="/ppt/notesSlides/notesSlide26.xml" Id="Rd01bdaff18e649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e0d037cf84869" /><Relationship Type="http://schemas.openxmlformats.org/officeDocument/2006/relationships/notesSlide" Target="/ppt/notesSlides/notesSlide27.xml" Id="R7422c67f1c734c7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cc37b3a6c497c" /><Relationship Type="http://schemas.openxmlformats.org/officeDocument/2006/relationships/notesSlide" Target="/ppt/notesSlides/notesSlide28.xml" Id="R4aa26c271da14f5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35e43d5b04436" /><Relationship Type="http://schemas.openxmlformats.org/officeDocument/2006/relationships/notesSlide" Target="/ppt/notesSlides/notesSlide29.xml" Id="Refcb2ae57d974f0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0386ef77e4f06" /><Relationship Type="http://schemas.openxmlformats.org/officeDocument/2006/relationships/notesSlide" Target="/ppt/notesSlides/notesSlide30.xml" Id="R2b33398b7292471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112b642e2493a" /><Relationship Type="http://schemas.openxmlformats.org/officeDocument/2006/relationships/notesSlide" Target="/ppt/notesSlides/notesSlide31.xml" Id="R203b7e749fd4438e" /></Relationships>
</file>

<file path=ppt/slides/charts/chart1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平台功能广度得分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InQuanto</c:v>
          </c:tx>
          <c:spPr>
            <a:solidFill xmlns:a="http://schemas.openxmlformats.org/drawingml/2006/main">
              <a:srgbClr val="1E2761"/>
            </a:solidFill>
          </c:spPr>
          <c:cat>
            <c:strLit>
              <c:ptCount val="4"/>
              <c:pt idx="0">
                <c:v>Workflow</c:v>
              </c:pt>
              <c:pt idx="1">
                <c:v>Algorithms</c:v>
              </c:pt>
              <c:pt idx="2">
                <c:v>MD/ML</c:v>
              </c:pt>
              <c:pt idx="3">
                <c:v>Reproducibility</c:v>
              </c:pt>
            </c:strLit>
          </c:cat>
          <c:val>
            <c:numLit>
              <c:formatCode>General</c:formatCode>
              <c:ptCount val="4"/>
              <c:pt idx="0">
                <c:v>9</c:v>
              </c:pt>
              <c:pt idx="1">
                <c:v>8</c:v>
              </c:pt>
              <c:pt idx="2">
                <c:v>4</c:v>
              </c:pt>
              <c:pt idx="3">
                <c:v>7</c:v>
              </c:pt>
            </c:numLit>
          </c:val>
        </c:ser>
        <c:ser>
          <c:idx val="1"/>
          <c:order val="1"/>
          <c:tx>
            <c:v>Our Platform</c:v>
          </c:tx>
          <c:spPr>
            <a:solidFill xmlns:a="http://schemas.openxmlformats.org/drawingml/2006/main">
              <a:srgbClr val="CADCFC"/>
            </a:solidFill>
          </c:spPr>
          <c:cat>
            <c:strLit>
              <c:ptCount val="4"/>
              <c:pt idx="0">
                <c:v>Workflow</c:v>
              </c:pt>
              <c:pt idx="1">
                <c:v>Algorithms</c:v>
              </c:pt>
              <c:pt idx="2">
                <c:v>MD/ML</c:v>
              </c:pt>
              <c:pt idx="3">
                <c:v>Reproducibility</c:v>
              </c:pt>
            </c:strLit>
          </c:cat>
          <c:val>
            <c:numLit>
              <c:formatCode>General</c:formatCode>
              <c:ptCount val="4"/>
              <c:pt idx="0">
                <c:v>8</c:v>
              </c:pt>
              <c:pt idx="1">
                <c:v>9</c:v>
              </c:pt>
              <c:pt idx="2">
                <c:v>8</c:v>
              </c:pt>
              <c:pt idx="3">
                <c:v>8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720000" y="252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量子计算化学与平台架构进展汇报</a:t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720000" y="3960000"/>
            <a:ext cx="1075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构建开源、可审计、产品化的量子计算化学工作流平台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2" name="TextBox 1"/>
          <p:cNvSpPr/>
          <p:nvPr/>
        </p:nvSpPr>
        <p:spPr>
          <a:xfrm xmlns:a="http://schemas.openxmlformats.org/drawingml/2006/main">
            <a:off x="720000" y="720000"/>
            <a:ext cx="10753200" cy="5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0" b="1">
                <a:solidFill>
                  <a:srgbClr val="FFFFFF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003" name="TextBox 2"/>
          <p:cNvSpPr/>
          <p:nvPr/>
        </p:nvSpPr>
        <p:spPr>
          <a:xfrm xmlns:a="http://schemas.openxmlformats.org/drawingml/2006/main">
            <a:off x="720000" y="288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为什么作为硬件公司要做本工程？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硬件公司的破局点</a:t>
            </a:r>
          </a:p>
        </p:txBody>
      </p:sp>
      <p:sp>
        <p:nvSpPr>
          <p:cNvPr id="10005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纯做硬件缺乏应用层闭环，难以直接输出价值</a:t>
            </a:r>
          </a:p>
        </p:txBody>
      </p:sp>
      <p:sp>
        <p:nvSpPr>
          <p:cNvPr id="10006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商业对手(如Quantinuum)正在通过全栈产品锁定用户</a:t>
            </a:r>
          </a:p>
        </p:txBody>
      </p:sp>
      <p:sp>
        <p:nvSpPr>
          <p:cNvPr id="10007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我们需要一个对接算力与真实化学场景的桥梁</a:t>
            </a:r>
          </a:p>
        </p:txBody>
      </p:sp>
      <p:sp>
        <p:nvSpPr>
          <p:cNvPr id="10008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让量子优势在材料、药物研发中可见可检证</a:t>
            </a:r>
          </a:p>
        </p:txBody>
      </p:sp>
      <p:sp>
        <p:nvSpPr>
          <p:cNvPr id="10009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10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核心逻辑</a:t>
            </a:r>
          </a:p>
        </p:txBody>
      </p:sp>
      <p:sp>
        <p:nvSpPr>
          <p:cNvPr id="10011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只有掌握从化学输入到量子编译的完整编排层，才能最大化底层硬件的差异化优势，同时引入经典计算和ML/MD生态。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硬件与应用双轮驱动</a:t>
            </a:r>
          </a:p>
        </p:txBody>
      </p:sp>
      <p:sp>
        <p:nvSpPr>
          <p:cNvPr id="10013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14" name="TextBox 3"/>
          <p:cNvSpPr/>
          <p:nvPr/>
        </p:nvSpPr>
        <p:spPr>
          <a:xfrm xmlns:a="http://schemas.openxmlformats.org/drawingml/2006/main">
            <a:off x="6120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硬件层面</a:t>
            </a:r>
          </a:p>
        </p:txBody>
      </p:sp>
      <p:sp>
        <p:nvSpPr>
          <p:cNvPr id="10015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提供高保真度、大规模式的量子算力，但用户不会直接写量子门</a:t>
            </a:r>
          </a:p>
        </p:txBody>
      </p:sp>
      <p:sp>
        <p:nvSpPr>
          <p:cNvPr id="10016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17" name="TextBox 6"/>
          <p:cNvSpPr/>
          <p:nvPr/>
        </p:nvSpPr>
        <p:spPr>
          <a:xfrm xmlns:a="http://schemas.openxmlformats.org/drawingml/2006/main">
            <a:off x="44364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软件编排</a:t>
            </a:r>
          </a:p>
        </p:txBody>
      </p:sp>
      <p:sp>
        <p:nvSpPr>
          <p:cNvPr id="10018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需要通过产品化的Workflow，把化学家的语言自动翻译为硬件任务</a:t>
            </a:r>
          </a:p>
        </p:txBody>
      </p:sp>
      <p:sp>
        <p:nvSpPr>
          <p:cNvPr id="10019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20" name="TextBox 9"/>
          <p:cNvSpPr/>
          <p:nvPr/>
        </p:nvSpPr>
        <p:spPr>
          <a:xfrm xmlns:a="http://schemas.openxmlformats.org/drawingml/2006/main">
            <a:off x="82608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商业壁垒</a:t>
            </a:r>
          </a:p>
        </p:txBody>
      </p:sp>
      <p:sp>
        <p:nvSpPr>
          <p:cNvPr id="10021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拥有自己的QChem平台，可直接面向制药/材料客户提供端到端解决方案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2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构建开源工作流平台的战略价值</a:t>
            </a:r>
          </a:p>
        </p:txBody>
      </p:sp>
      <p:sp>
        <p:nvSpPr>
          <p:cNvPr id="10023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不再受制于第三方商业平台的生态锁定</a:t>
            </a:r>
          </a:p>
        </p:txBody>
      </p:sp>
      <p:sp>
        <p:nvSpPr>
          <p:cNvPr id="10024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能够更灵活地插入我们自研的算法和编译优化(如张量网络)</a:t>
            </a:r>
          </a:p>
        </p:txBody>
      </p:sp>
      <p:sp>
        <p:nvSpPr>
          <p:cNvPr id="10025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与MD(分子动力学)和ML生态深度融合</a:t>
            </a:r>
          </a:p>
        </p:txBody>
      </p:sp>
      <p:sp>
        <p:nvSpPr>
          <p:cNvPr id="10026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通过开源(Apache-2.0)吸引全球学术和产业用户共同完善模型</a:t>
            </a:r>
          </a:p>
        </p:txBody>
      </p:sp>
      <p:sp>
        <p:nvSpPr>
          <p:cNvPr id="10027" name="TextBox 6"/>
          <p:cNvSpPr/>
          <p:nvPr/>
        </p:nvSpPr>
        <p:spPr>
          <a:xfrm xmlns:a="http://schemas.openxmlformats.org/drawingml/2006/main">
            <a:off x="5940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28" name="TextBox 7"/>
          <p:cNvSpPr/>
          <p:nvPr/>
        </p:nvSpPr>
        <p:spPr>
          <a:xfrm xmlns:a="http://schemas.openxmlformats.org/drawingml/2006/main">
            <a:off x="6012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开源</a:t>
            </a:r>
          </a:p>
        </p:txBody>
      </p:sp>
      <p:sp>
        <p:nvSpPr>
          <p:cNvPr id="10029" name="TextBox 8"/>
          <p:cNvSpPr/>
          <p:nvPr/>
        </p:nvSpPr>
        <p:spPr>
          <a:xfrm xmlns:a="http://schemas.openxmlformats.org/drawingml/2006/main">
            <a:off x="6012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生态</a:t>
            </a:r>
          </a:p>
        </p:txBody>
      </p:sp>
      <p:sp>
        <p:nvSpPr>
          <p:cNvPr id="10030" name="TextBox 9"/>
          <p:cNvSpPr/>
          <p:nvPr/>
        </p:nvSpPr>
        <p:spPr>
          <a:xfrm xmlns:a="http://schemas.openxmlformats.org/drawingml/2006/main">
            <a:off x="6012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全球开发者共建</a:t>
            </a:r>
          </a:p>
        </p:txBody>
      </p:sp>
      <p:sp>
        <p:nvSpPr>
          <p:cNvPr id="10031" name="TextBox 10"/>
          <p:cNvSpPr/>
          <p:nvPr/>
        </p:nvSpPr>
        <p:spPr>
          <a:xfrm xmlns:a="http://schemas.openxmlformats.org/drawingml/2006/main">
            <a:off x="7812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32" name="TextBox 11"/>
          <p:cNvSpPr/>
          <p:nvPr/>
        </p:nvSpPr>
        <p:spPr>
          <a:xfrm xmlns:a="http://schemas.openxmlformats.org/drawingml/2006/main">
            <a:off x="7884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审计</a:t>
            </a:r>
          </a:p>
        </p:txBody>
      </p:sp>
      <p:sp>
        <p:nvSpPr>
          <p:cNvPr id="10033" name="TextBox 12"/>
          <p:cNvSpPr/>
          <p:nvPr/>
        </p:nvSpPr>
        <p:spPr>
          <a:xfrm xmlns:a="http://schemas.openxmlformats.org/drawingml/2006/main">
            <a:off x="7884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可信</a:t>
            </a:r>
          </a:p>
        </p:txBody>
      </p:sp>
      <p:sp>
        <p:nvSpPr>
          <p:cNvPr id="10034" name="TextBox 13"/>
          <p:cNvSpPr/>
          <p:nvPr/>
        </p:nvSpPr>
        <p:spPr>
          <a:xfrm xmlns:a="http://schemas.openxmlformats.org/drawingml/2006/main">
            <a:off x="7884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Methods直接发论文</a:t>
            </a:r>
          </a:p>
        </p:txBody>
      </p:sp>
      <p:sp>
        <p:nvSpPr>
          <p:cNvPr id="10035" name="TextBox 14"/>
          <p:cNvSpPr/>
          <p:nvPr/>
        </p:nvSpPr>
        <p:spPr>
          <a:xfrm xmlns:a="http://schemas.openxmlformats.org/drawingml/2006/main">
            <a:off x="9684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36" name="TextBox 15"/>
          <p:cNvSpPr/>
          <p:nvPr/>
        </p:nvSpPr>
        <p:spPr>
          <a:xfrm xmlns:a="http://schemas.openxmlformats.org/drawingml/2006/main">
            <a:off x="9756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MD/ML</a:t>
            </a:r>
          </a:p>
        </p:txBody>
      </p:sp>
      <p:sp>
        <p:nvSpPr>
          <p:cNvPr id="10037" name="TextBox 16"/>
          <p:cNvSpPr/>
          <p:nvPr/>
        </p:nvSpPr>
        <p:spPr>
          <a:xfrm xmlns:a="http://schemas.openxmlformats.org/drawingml/2006/main">
            <a:off x="9756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融合</a:t>
            </a:r>
          </a:p>
        </p:txBody>
      </p:sp>
      <p:sp>
        <p:nvSpPr>
          <p:cNvPr id="10038" name="TextBox 17"/>
          <p:cNvSpPr/>
          <p:nvPr/>
        </p:nvSpPr>
        <p:spPr>
          <a:xfrm xmlns:a="http://schemas.openxmlformats.org/drawingml/2006/main">
            <a:off x="9756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差异化竞争点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39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为什么不能直接用已有的开源工具？</a:t>
            </a:r>
          </a:p>
        </p:txBody>
      </p:sp>
      <p:sp>
        <p:nvSpPr>
          <p:cNvPr id="10040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现有工具(如Tangelo)多为散装脚本，缺乏产品化体验</a:t>
            </a:r>
          </a:p>
        </p:txBody>
      </p:sp>
      <p:sp>
        <p:nvSpPr>
          <p:cNvPr id="10041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无法实现复杂任务的标准化审计(Repro / Parity)</a:t>
            </a:r>
          </a:p>
        </p:txBody>
      </p:sp>
      <p:sp>
        <p:nvSpPr>
          <p:cNvPr id="10042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在作业队列、容错调度、大体系下折叠等企业级特性上存在短板</a:t>
            </a:r>
          </a:p>
        </p:txBody>
      </p:sp>
      <p:sp>
        <p:nvSpPr>
          <p:cNvPr id="10043" name="TextBox 5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44" name="TextBox 6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结论</a:t>
            </a:r>
          </a:p>
        </p:txBody>
      </p:sp>
      <p:sp>
        <p:nvSpPr>
          <p:cNvPr id="10045" name="TextBox 7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我们需要一个带有工业级纪律的架构，而不仅是一个研究用的工具箱。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46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我们的定位</a:t>
            </a:r>
          </a:p>
        </p:txBody>
      </p:sp>
      <p:sp>
        <p:nvSpPr>
          <p:cNvPr id="10047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不照搬闭源逻辑，不做散装工具箱</a:t>
            </a:r>
          </a:p>
        </p:txBody>
      </p:sp>
      <p:sp>
        <p:nvSpPr>
          <p:cNvPr id="10048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定位：开源、可审计、可写进论文Methods的计算化学编排平台</a:t>
            </a:r>
          </a:p>
        </p:txBody>
      </p:sp>
      <p:sp>
        <p:nvSpPr>
          <p:cNvPr id="10049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融合InQuanto的工作流纪律与Tangelo的算法广度</a:t>
            </a:r>
          </a:p>
        </p:txBody>
      </p:sp>
      <p:sp>
        <p:nvSpPr>
          <p:cNvPr id="10050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打造我们特有的MD/ML延伸能力</a:t>
            </a:r>
          </a:p>
        </p:txBody>
      </p:sp>
      <p:sp>
        <p:nvSpPr>
          <p:cNvPr id="10051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52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愿景</a:t>
            </a:r>
          </a:p>
        </p:txBody>
      </p:sp>
      <p:sp>
        <p:nvSpPr>
          <p:cNvPr id="10053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成为量子化学研究和工业应用的首选开放平台。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54" name="TextBox 1"/>
          <p:cNvSpPr/>
          <p:nvPr/>
        </p:nvSpPr>
        <p:spPr>
          <a:xfrm xmlns:a="http://schemas.openxmlformats.org/drawingml/2006/main">
            <a:off x="720000" y="720000"/>
            <a:ext cx="10753200" cy="5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0" b="1">
                <a:solidFill>
                  <a:srgbClr val="FFFFFF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0055" name="TextBox 2"/>
          <p:cNvSpPr/>
          <p:nvPr/>
        </p:nvSpPr>
        <p:spPr>
          <a:xfrm xmlns:a="http://schemas.openxmlformats.org/drawingml/2006/main">
            <a:off x="720000" y="288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竞品分析：InQuanto 与 Tangelo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56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InQuanto：商业平台标杆</a:t>
            </a:r>
          </a:p>
        </p:txBody>
      </p:sp>
      <p:sp>
        <p:nvSpPr>
          <p:cNvPr id="10057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58" name="TextBox 3"/>
          <p:cNvSpPr/>
          <p:nvPr/>
        </p:nvSpPr>
        <p:spPr>
          <a:xfrm xmlns:a="http://schemas.openxmlformats.org/drawingml/2006/main">
            <a:off x="6120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特点</a:t>
            </a:r>
          </a:p>
        </p:txBody>
      </p:sp>
      <p:sp>
        <p:nvSpPr>
          <p:cNvPr id="10059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深度绑定Quantinuum生态(TKET, Nexus, H-Series)</a:t>
            </a:r>
          </a:p>
        </p:txBody>
      </p:sp>
      <p:sp>
        <p:nvSpPr>
          <p:cNvPr id="10060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61" name="TextBox 6"/>
          <p:cNvSpPr/>
          <p:nvPr/>
        </p:nvSpPr>
        <p:spPr>
          <a:xfrm xmlns:a="http://schemas.openxmlformats.org/drawingml/2006/main">
            <a:off x="44364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优势</a:t>
            </a:r>
          </a:p>
        </p:txBody>
      </p:sp>
      <p:sp>
        <p:nvSpPr>
          <p:cNvPr id="10062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产品叙事完整，拥有极强的Protocol和Job对象模型</a:t>
            </a:r>
          </a:p>
        </p:txBody>
      </p:sp>
      <p:sp>
        <p:nvSpPr>
          <p:cNvPr id="10063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64" name="TextBox 9"/>
          <p:cNvSpPr/>
          <p:nvPr/>
        </p:nvSpPr>
        <p:spPr>
          <a:xfrm xmlns:a="http://schemas.openxmlformats.org/drawingml/2006/main">
            <a:off x="82608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劣势</a:t>
            </a:r>
          </a:p>
        </p:txBody>
      </p:sp>
      <p:sp>
        <p:nvSpPr>
          <p:cNvPr id="10065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闭源、厂商锁定严重，外界无法完全检证其底层启发式细节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66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InQuanto 工作流原理</a:t>
            </a:r>
          </a:p>
        </p:txBody>
      </p:sp>
      <p:sp>
        <p:nvSpPr>
          <p:cNvPr id="10067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从化学输入(PySCF)出发，定义Active Space</a:t>
            </a:r>
          </a:p>
        </p:txBody>
      </p:sp>
      <p:sp>
        <p:nvSpPr>
          <p:cNvPr id="10069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通过Computable和Protocol构建量子作业</a:t>
            </a:r>
          </a:p>
        </p:txBody>
      </p:sp>
      <p:sp>
        <p:nvSpPr>
          <p:cNvPr id="10070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提交到云端(Nexus)执行并回收资源报告</a:t>
            </a:r>
          </a:p>
        </p:txBody>
      </p:sp>
      <p:sp>
        <p:nvSpPr>
          <p:cNvPr id="10071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72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核心思想</a:t>
            </a:r>
          </a:p>
        </p:txBody>
      </p:sp>
      <p:sp>
        <p:nvSpPr>
          <p:cNvPr id="10073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一切皆对象。定义好分子、算法、协议后，形成稳定的计算流。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74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Tangelo：开源工具箱</a:t>
            </a:r>
          </a:p>
        </p:txBody>
      </p:sp>
      <p:sp>
        <p:nvSpPr>
          <p:cNvPr id="10075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76" name="TextBox 3"/>
          <p:cNvSpPr/>
          <p:nvPr/>
        </p:nvSpPr>
        <p:spPr>
          <a:xfrm xmlns:a="http://schemas.openxmlformats.org/drawingml/2006/main">
            <a:off x="6120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特点</a:t>
            </a:r>
          </a:p>
        </p:txBody>
      </p:sp>
      <p:sp>
        <p:nvSpPr>
          <p:cNvPr id="10077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SandboxAQ开源的端到端工具包，重研究与教程</a:t>
            </a:r>
          </a:p>
        </p:txBody>
      </p:sp>
      <p:sp>
        <p:nvSpPr>
          <p:cNvPr id="10078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79" name="TextBox 6"/>
          <p:cNvSpPr/>
          <p:nvPr/>
        </p:nvSpPr>
        <p:spPr>
          <a:xfrm xmlns:a="http://schemas.openxmlformats.org/drawingml/2006/main">
            <a:off x="44364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优势</a:t>
            </a:r>
          </a:p>
        </p:txBody>
      </p:sp>
      <p:sp>
        <p:nvSpPr>
          <p:cNvPr id="10080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算法极多，支持大量Ansatz、后端(Qiskit/Cirq等)，生态丰富</a:t>
            </a:r>
          </a:p>
        </p:txBody>
      </p:sp>
      <p:sp>
        <p:nvSpPr>
          <p:cNvPr id="10081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82" name="TextBox 9"/>
          <p:cNvSpPr/>
          <p:nvPr/>
        </p:nvSpPr>
        <p:spPr>
          <a:xfrm xmlns:a="http://schemas.openxmlformats.org/drawingml/2006/main">
            <a:off x="82608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劣势</a:t>
            </a:r>
          </a:p>
        </p:txBody>
      </p:sp>
      <p:sp>
        <p:nvSpPr>
          <p:cNvPr id="10083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统一契约较弱，像散装脚本，缺乏企业级作业管控和严谨输出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84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Tangelo 工作流原理</a:t>
            </a:r>
          </a:p>
        </p:txBody>
      </p:sp>
      <p:sp>
        <p:nvSpPr>
          <p:cNvPr id="10085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定义SecondQuantizedMolecule</a:t>
            </a:r>
          </a:p>
        </p:txBody>
      </p:sp>
      <p:sp>
        <p:nvSpPr>
          <p:cNvPr id="10086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选取Solver(如VQESolver, ADAPTSolver)</a:t>
            </a:r>
          </a:p>
        </p:txBody>
      </p:sp>
      <p:sp>
        <p:nvSpPr>
          <p:cNvPr id="10087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指定Backend执行运算</a:t>
            </a:r>
          </a:p>
        </p:txBody>
      </p:sp>
      <p:sp>
        <p:nvSpPr>
          <p:cNvPr id="10088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获取能量与态信息</a:t>
            </a:r>
          </a:p>
        </p:txBody>
      </p:sp>
      <p:sp>
        <p:nvSpPr>
          <p:cNvPr id="10089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90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流程特点</a:t>
            </a:r>
          </a:p>
        </p:txBody>
      </p:sp>
      <p:sp>
        <p:nvSpPr>
          <p:cNvPr id="10091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流程直白，方便二次开发，但各个模块间的接口没有被严格的对象模型(如Protocol)保护，复现性较弱。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c="http://schemas.openxmlformats.org/drawingml/2006/chart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92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工作流与复现性对比(分数)</a:t>
            </a:r>
          </a:p>
        </p:txBody>
      </p:sp>
      <p:graphicFrame>
        <p:nvGraphicFramePr>
          <p:cNvPr id="10093" name="平台功能广度得分"/>
          <p:cNvGraphicFramePr/>
          <p:nvPr/>
        </p:nvGraphicFramePr>
        <p:xfrm>
          <a:off xmlns:a="http://schemas.openxmlformats.org/drawingml/2006/main" x="540000" y="1260000"/>
          <a:ext xmlns:a="http://schemas.openxmlformats.org/drawingml/2006/main" cx="7200000" cy="504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8dd4b427344df3"/>
          </a:graphicData>
        </a:graphic>
      </p:graphicFrame>
      <p:sp>
        <p:nvSpPr>
          <p:cNvPr id="10094" name="TextBox 2"/>
          <p:cNvSpPr/>
          <p:nvPr/>
        </p:nvSpPr>
        <p:spPr>
          <a:xfrm xmlns:a="http://schemas.openxmlformats.org/drawingml/2006/main">
            <a:off x="8100000" y="1260000"/>
            <a:ext cx="3528000" cy="50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095" name="TextBox 3"/>
          <p:cNvSpPr/>
          <p:nvPr/>
        </p:nvSpPr>
        <p:spPr>
          <a:xfrm xmlns:a="http://schemas.openxmlformats.org/drawingml/2006/main">
            <a:off x="8280000" y="1440000"/>
            <a:ext cx="32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1E2761"/>
                </a:solidFill>
                <a:latin typeface="Georgia"/>
                <a:ea typeface="Georgia"/>
              </a:rPr>
              <a:t>Insight</a:t>
            </a:r>
          </a:p>
        </p:txBody>
      </p:sp>
      <p:sp>
        <p:nvSpPr>
          <p:cNvPr id="10096" name="TextBox 4"/>
          <p:cNvSpPr/>
          <p:nvPr/>
        </p:nvSpPr>
        <p:spPr>
          <a:xfrm xmlns:a="http://schemas.openxmlformats.org/drawingml/2006/main">
            <a:off x="8280000" y="1980000"/>
            <a:ext cx="3240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Calibri"/>
                <a:ea typeface="Calibri"/>
              </a:rPr>
              <a:t>InQuanto在工作流占优，但MD/ML缺乏；我们将在MD/ML及复现性上超越。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97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竞品分析总结</a:t>
            </a:r>
          </a:p>
        </p:txBody>
      </p:sp>
      <p:sp>
        <p:nvSpPr>
          <p:cNvPr id="10098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InQuanto强在工程与产品体验(对象化，报告化)</a:t>
            </a:r>
          </a:p>
        </p:txBody>
      </p:sp>
      <p:sp>
        <p:nvSpPr>
          <p:cNvPr id="10099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Tangelo强在算法广度和自由度</a:t>
            </a:r>
          </a:p>
        </p:txBody>
      </p:sp>
      <p:sp>
        <p:nvSpPr>
          <p:cNvPr id="10100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二者均在MD/ML延伸上留有空白</a:t>
            </a:r>
          </a:p>
        </p:txBody>
      </p:sp>
      <p:sp>
        <p:nvSpPr>
          <p:cNvPr id="10101" name="TextBox 5"/>
          <p:cNvSpPr/>
          <p:nvPr/>
        </p:nvSpPr>
        <p:spPr>
          <a:xfrm xmlns:a="http://schemas.openxmlformats.org/drawingml/2006/main">
            <a:off x="5940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02" name="TextBox 6"/>
          <p:cNvSpPr/>
          <p:nvPr/>
        </p:nvSpPr>
        <p:spPr>
          <a:xfrm xmlns:a="http://schemas.openxmlformats.org/drawingml/2006/main">
            <a:off x="6012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InQuanto</a:t>
            </a:r>
          </a:p>
        </p:txBody>
      </p:sp>
      <p:sp>
        <p:nvSpPr>
          <p:cNvPr id="10103" name="TextBox 7"/>
          <p:cNvSpPr/>
          <p:nvPr/>
        </p:nvSpPr>
        <p:spPr>
          <a:xfrm xmlns:a="http://schemas.openxmlformats.org/drawingml/2006/main">
            <a:off x="6012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重产品</a:t>
            </a:r>
          </a:p>
        </p:txBody>
      </p:sp>
      <p:sp>
        <p:nvSpPr>
          <p:cNvPr id="10104" name="TextBox 8"/>
          <p:cNvSpPr/>
          <p:nvPr/>
        </p:nvSpPr>
        <p:spPr>
          <a:xfrm xmlns:a="http://schemas.openxmlformats.org/drawingml/2006/main">
            <a:off x="6012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闭源封闭</a:t>
            </a:r>
          </a:p>
        </p:txBody>
      </p:sp>
      <p:sp>
        <p:nvSpPr>
          <p:cNvPr id="10105" name="TextBox 9"/>
          <p:cNvSpPr/>
          <p:nvPr/>
        </p:nvSpPr>
        <p:spPr>
          <a:xfrm xmlns:a="http://schemas.openxmlformats.org/drawingml/2006/main">
            <a:off x="7812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06" name="TextBox 10"/>
          <p:cNvSpPr/>
          <p:nvPr/>
        </p:nvSpPr>
        <p:spPr>
          <a:xfrm xmlns:a="http://schemas.openxmlformats.org/drawingml/2006/main">
            <a:off x="7884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Tangelo</a:t>
            </a:r>
          </a:p>
        </p:txBody>
      </p:sp>
      <p:sp>
        <p:nvSpPr>
          <p:cNvPr id="10107" name="TextBox 11"/>
          <p:cNvSpPr/>
          <p:nvPr/>
        </p:nvSpPr>
        <p:spPr>
          <a:xfrm xmlns:a="http://schemas.openxmlformats.org/drawingml/2006/main">
            <a:off x="7884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重算法</a:t>
            </a:r>
          </a:p>
        </p:txBody>
      </p:sp>
      <p:sp>
        <p:nvSpPr>
          <p:cNvPr id="10108" name="TextBox 12"/>
          <p:cNvSpPr/>
          <p:nvPr/>
        </p:nvSpPr>
        <p:spPr>
          <a:xfrm xmlns:a="http://schemas.openxmlformats.org/drawingml/2006/main">
            <a:off x="7884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缺乏纪律</a:t>
            </a:r>
          </a:p>
        </p:txBody>
      </p:sp>
      <p:sp>
        <p:nvSpPr>
          <p:cNvPr id="10109" name="TextBox 13"/>
          <p:cNvSpPr/>
          <p:nvPr/>
        </p:nvSpPr>
        <p:spPr>
          <a:xfrm xmlns:a="http://schemas.openxmlformats.org/drawingml/2006/main">
            <a:off x="9684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10" name="TextBox 14"/>
          <p:cNvSpPr/>
          <p:nvPr/>
        </p:nvSpPr>
        <p:spPr>
          <a:xfrm xmlns:a="http://schemas.openxmlformats.org/drawingml/2006/main">
            <a:off x="9756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Our</a:t>
            </a:r>
          </a:p>
        </p:txBody>
      </p:sp>
      <p:sp>
        <p:nvSpPr>
          <p:cNvPr id="10111" name="TextBox 15"/>
          <p:cNvSpPr/>
          <p:nvPr/>
        </p:nvSpPr>
        <p:spPr>
          <a:xfrm xmlns:a="http://schemas.openxmlformats.org/drawingml/2006/main">
            <a:off x="9756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全栈</a:t>
            </a:r>
          </a:p>
        </p:txBody>
      </p:sp>
      <p:sp>
        <p:nvSpPr>
          <p:cNvPr id="10112" name="TextBox 16"/>
          <p:cNvSpPr/>
          <p:nvPr/>
        </p:nvSpPr>
        <p:spPr>
          <a:xfrm xmlns:a="http://schemas.openxmlformats.org/drawingml/2006/main">
            <a:off x="9756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开源+纪律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113" name="TextBox 1"/>
          <p:cNvSpPr/>
          <p:nvPr/>
        </p:nvSpPr>
        <p:spPr>
          <a:xfrm xmlns:a="http://schemas.openxmlformats.org/drawingml/2006/main">
            <a:off x="720000" y="720000"/>
            <a:ext cx="10753200" cy="5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0" b="1">
                <a:solidFill>
                  <a:srgbClr val="FFFFFF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0114" name="TextBox 2"/>
          <p:cNvSpPr/>
          <p:nvPr/>
        </p:nvSpPr>
        <p:spPr>
          <a:xfrm xmlns:a="http://schemas.openxmlformats.org/drawingml/2006/main">
            <a:off x="720000" y="288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我们的优劣势与应对策略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15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我们的核心优势</a:t>
            </a:r>
          </a:p>
        </p:txBody>
      </p:sp>
      <p:sp>
        <p:nvSpPr>
          <p:cNvPr id="10116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17" name="TextBox 3"/>
          <p:cNvSpPr/>
          <p:nvPr/>
        </p:nvSpPr>
        <p:spPr>
          <a:xfrm xmlns:a="http://schemas.openxmlformats.org/drawingml/2006/main">
            <a:off x="6120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架构后发优势</a:t>
            </a:r>
          </a:p>
        </p:txBody>
      </p:sp>
      <p:sp>
        <p:nvSpPr>
          <p:cNvPr id="10118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可以直接汲取两家所长，避免早期的技术债</a:t>
            </a:r>
          </a:p>
        </p:txBody>
      </p:sp>
      <p:sp>
        <p:nvSpPr>
          <p:cNvPr id="10119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20" name="TextBox 6"/>
          <p:cNvSpPr/>
          <p:nvPr/>
        </p:nvSpPr>
        <p:spPr>
          <a:xfrm xmlns:a="http://schemas.openxmlformats.org/drawingml/2006/main">
            <a:off x="44364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可复现性设计</a:t>
            </a:r>
          </a:p>
        </p:txBody>
      </p:sp>
      <p:sp>
        <p:nvSpPr>
          <p:cNvPr id="10121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设计之初就引入Repro/Parity机制，所有过程全留痕</a:t>
            </a:r>
          </a:p>
        </p:txBody>
      </p:sp>
      <p:sp>
        <p:nvSpPr>
          <p:cNvPr id="10122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23" name="TextBox 9"/>
          <p:cNvSpPr/>
          <p:nvPr/>
        </p:nvSpPr>
        <p:spPr>
          <a:xfrm xmlns:a="http://schemas.openxmlformats.org/drawingml/2006/main">
            <a:off x="82608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MD与ML融合</a:t>
            </a:r>
          </a:p>
        </p:txBody>
      </p:sp>
      <p:sp>
        <p:nvSpPr>
          <p:cNvPr id="10124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公司自有MD力场和ML积累，直接打通端到端材料设计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25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目前的劣势</a:t>
            </a:r>
          </a:p>
        </p:txBody>
      </p:sp>
      <p:sp>
        <p:nvSpPr>
          <p:cNvPr id="10126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27" name="TextBox 3"/>
          <p:cNvSpPr/>
          <p:nvPr/>
        </p:nvSpPr>
        <p:spPr>
          <a:xfrm xmlns:a="http://schemas.openxmlformats.org/drawingml/2006/main">
            <a:off x="6120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起步晚</a:t>
            </a:r>
          </a:p>
        </p:txBody>
      </p:sp>
      <p:sp>
        <p:nvSpPr>
          <p:cNvPr id="10128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尚未形成庞大的用户社区和完善的教程生态</a:t>
            </a:r>
          </a:p>
        </p:txBody>
      </p:sp>
      <p:sp>
        <p:nvSpPr>
          <p:cNvPr id="10129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30" name="TextBox 6"/>
          <p:cNvSpPr/>
          <p:nvPr/>
        </p:nvSpPr>
        <p:spPr>
          <a:xfrm xmlns:a="http://schemas.openxmlformats.org/drawingml/2006/main">
            <a:off x="44364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算法深度</a:t>
            </a:r>
          </a:p>
        </p:txBody>
      </p:sp>
      <p:sp>
        <p:nvSpPr>
          <p:cNvPr id="10131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在高级大体系求解(如复杂碎片法)上仍需逐步追赶</a:t>
            </a:r>
          </a:p>
        </p:txBody>
      </p:sp>
      <p:sp>
        <p:nvSpPr>
          <p:cNvPr id="10132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33" name="TextBox 9"/>
          <p:cNvSpPr/>
          <p:nvPr/>
        </p:nvSpPr>
        <p:spPr>
          <a:xfrm xmlns:a="http://schemas.openxmlformats.org/drawingml/2006/main">
            <a:off x="82608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商业包装</a:t>
            </a:r>
          </a:p>
        </p:txBody>
      </p:sp>
      <p:sp>
        <p:nvSpPr>
          <p:cNvPr id="10134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尚未形成与云计算平台深度集成的商业化UI前端</a:t>
            </a: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35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策略：我们要做什么？</a:t>
            </a:r>
          </a:p>
        </p:txBody>
      </p:sp>
      <p:sp>
        <p:nvSpPr>
          <p:cNvPr id="10136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不做InQuanto的无脑克隆，不强求商业云UI的一比一</a:t>
            </a:r>
          </a:p>
        </p:txBody>
      </p:sp>
      <p:sp>
        <p:nvSpPr>
          <p:cNvPr id="10137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构建开放、可审计(Audit)、可插入的编排层</a:t>
            </a:r>
          </a:p>
        </p:txBody>
      </p:sp>
      <p:sp>
        <p:nvSpPr>
          <p:cNvPr id="10138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把Tangelo的算法装入InQuanto的纪律里</a:t>
            </a:r>
          </a:p>
        </p:txBody>
      </p:sp>
      <p:sp>
        <p:nvSpPr>
          <p:cNvPr id="10139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在ML和自研MD接口上打出差异化长板</a:t>
            </a:r>
          </a:p>
        </p:txBody>
      </p:sp>
      <p:sp>
        <p:nvSpPr>
          <p:cNvPr id="10140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41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总原则</a:t>
            </a:r>
          </a:p>
        </p:txBody>
      </p:sp>
      <p:sp>
        <p:nvSpPr>
          <p:cNvPr id="10142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用纪律管住广度，用开源打败封闭，用生态(MD/ML)拓展边界。</a:t>
            </a: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43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竞争定调：P0 到 P3</a:t>
            </a:r>
          </a:p>
        </p:txBody>
      </p:sp>
      <p:sp>
        <p:nvSpPr>
          <p:cNvPr id="10144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P0: 建立绝对可信的Methods引擎(Repro机制)</a:t>
            </a:r>
          </a:p>
        </p:txBody>
      </p:sp>
      <p:sp>
        <p:nvSpPr>
          <p:cNvPr id="10145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P1: 超越现有开源库的杂乱，实现一等工作流对象</a:t>
            </a:r>
          </a:p>
        </p:txBody>
      </p:sp>
      <p:sp>
        <p:nvSpPr>
          <p:cNvPr id="10146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P2: 深化大体系(Embedding)、QPE与MD/ML的差异化</a:t>
            </a:r>
          </a:p>
        </p:txBody>
      </p:sp>
      <p:sp>
        <p:nvSpPr>
          <p:cNvPr id="10147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P3: 完善产品生态(教程、前端看板、社区)</a:t>
            </a:r>
          </a:p>
        </p:txBody>
      </p:sp>
      <p:sp>
        <p:nvSpPr>
          <p:cNvPr id="10148" name="TextBox 6"/>
          <p:cNvSpPr/>
          <p:nvPr/>
        </p:nvSpPr>
        <p:spPr>
          <a:xfrm xmlns:a="http://schemas.openxmlformats.org/drawingml/2006/main">
            <a:off x="5940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49" name="TextBox 7"/>
          <p:cNvSpPr/>
          <p:nvPr/>
        </p:nvSpPr>
        <p:spPr>
          <a:xfrm xmlns:a="http://schemas.openxmlformats.org/drawingml/2006/main">
            <a:off x="6012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P0-P1</a:t>
            </a:r>
          </a:p>
        </p:txBody>
      </p:sp>
      <p:sp>
        <p:nvSpPr>
          <p:cNvPr id="10150" name="TextBox 8"/>
          <p:cNvSpPr/>
          <p:nvPr/>
        </p:nvSpPr>
        <p:spPr>
          <a:xfrm xmlns:a="http://schemas.openxmlformats.org/drawingml/2006/main">
            <a:off x="6012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可信工作流</a:t>
            </a:r>
          </a:p>
        </p:txBody>
      </p:sp>
      <p:sp>
        <p:nvSpPr>
          <p:cNvPr id="10151" name="TextBox 9"/>
          <p:cNvSpPr/>
          <p:nvPr/>
        </p:nvSpPr>
        <p:spPr>
          <a:xfrm xmlns:a="http://schemas.openxmlformats.org/drawingml/2006/main">
            <a:off x="6012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对标基础能力</a:t>
            </a:r>
          </a:p>
        </p:txBody>
      </p:sp>
      <p:sp>
        <p:nvSpPr>
          <p:cNvPr id="10152" name="TextBox 10"/>
          <p:cNvSpPr/>
          <p:nvPr/>
        </p:nvSpPr>
        <p:spPr>
          <a:xfrm xmlns:a="http://schemas.openxmlformats.org/drawingml/2006/main">
            <a:off x="7812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53" name="TextBox 11"/>
          <p:cNvSpPr/>
          <p:nvPr/>
        </p:nvSpPr>
        <p:spPr>
          <a:xfrm xmlns:a="http://schemas.openxmlformats.org/drawingml/2006/main">
            <a:off x="7884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P2</a:t>
            </a:r>
          </a:p>
        </p:txBody>
      </p:sp>
      <p:sp>
        <p:nvSpPr>
          <p:cNvPr id="10154" name="TextBox 12"/>
          <p:cNvSpPr/>
          <p:nvPr/>
        </p:nvSpPr>
        <p:spPr>
          <a:xfrm xmlns:a="http://schemas.openxmlformats.org/drawingml/2006/main">
            <a:off x="7884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MD/ML</a:t>
            </a:r>
          </a:p>
        </p:txBody>
      </p:sp>
      <p:sp>
        <p:nvSpPr>
          <p:cNvPr id="10155" name="TextBox 13"/>
          <p:cNvSpPr/>
          <p:nvPr/>
        </p:nvSpPr>
        <p:spPr>
          <a:xfrm xmlns:a="http://schemas.openxmlformats.org/drawingml/2006/main">
            <a:off x="7884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形成独特壁垒</a:t>
            </a:r>
          </a:p>
        </p:txBody>
      </p:sp>
      <p:sp>
        <p:nvSpPr>
          <p:cNvPr id="10156" name="TextBox 14"/>
          <p:cNvSpPr/>
          <p:nvPr/>
        </p:nvSpPr>
        <p:spPr>
          <a:xfrm xmlns:a="http://schemas.openxmlformats.org/drawingml/2006/main">
            <a:off x="9684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57" name="TextBox 15"/>
          <p:cNvSpPr/>
          <p:nvPr/>
        </p:nvSpPr>
        <p:spPr>
          <a:xfrm xmlns:a="http://schemas.openxmlformats.org/drawingml/2006/main">
            <a:off x="9756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P3</a:t>
            </a:r>
          </a:p>
        </p:txBody>
      </p:sp>
      <p:sp>
        <p:nvSpPr>
          <p:cNvPr id="10158" name="TextBox 16"/>
          <p:cNvSpPr/>
          <p:nvPr/>
        </p:nvSpPr>
        <p:spPr>
          <a:xfrm xmlns:a="http://schemas.openxmlformats.org/drawingml/2006/main">
            <a:off x="9756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生态</a:t>
            </a:r>
          </a:p>
        </p:txBody>
      </p:sp>
      <p:sp>
        <p:nvSpPr>
          <p:cNvPr id="10159" name="TextBox 17"/>
          <p:cNvSpPr/>
          <p:nvPr/>
        </p:nvSpPr>
        <p:spPr>
          <a:xfrm xmlns:a="http://schemas.openxmlformats.org/drawingml/2006/main">
            <a:off x="9756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走向商业级产品</a:t>
            </a: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160" name="TextBox 1"/>
          <p:cNvSpPr/>
          <p:nvPr/>
        </p:nvSpPr>
        <p:spPr>
          <a:xfrm xmlns:a="http://schemas.openxmlformats.org/drawingml/2006/main">
            <a:off x="720000" y="720000"/>
            <a:ext cx="10753200" cy="5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0" b="1">
                <a:solidFill>
                  <a:srgbClr val="FFFFFF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0161" name="TextBox 2"/>
          <p:cNvSpPr/>
          <p:nvPr/>
        </p:nvSpPr>
        <p:spPr>
          <a:xfrm xmlns:a="http://schemas.openxmlformats.org/drawingml/2006/main">
            <a:off x="720000" y="288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接下来的计划与架构设计</a:t>
            </a: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62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整体架构设计：从前向后填</a:t>
            </a:r>
          </a:p>
        </p:txBody>
      </p:sp>
      <p:sp>
        <p:nvSpPr>
          <p:cNvPr id="10163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顶层架构预留：经典化学+量子核心+编译/后端+ML/MD</a:t>
            </a:r>
          </a:p>
        </p:txBody>
      </p:sp>
      <p:sp>
        <p:nvSpPr>
          <p:cNvPr id="10164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初期不纠结每个模块的具体算法精度</a:t>
            </a:r>
          </a:p>
        </p:txBody>
      </p:sp>
      <p:sp>
        <p:nvSpPr>
          <p:cNvPr id="10165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先打通骨架，确保YAML配置-&gt;执行-&gt;Repro报告全链路畅通</a:t>
            </a:r>
          </a:p>
        </p:txBody>
      </p:sp>
      <p:sp>
        <p:nvSpPr>
          <p:cNvPr id="10166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为多后端(Qiskit, IonStack, 云作业)留出API抽象</a:t>
            </a:r>
          </a:p>
        </p:txBody>
      </p:sp>
      <p:sp>
        <p:nvSpPr>
          <p:cNvPr id="10167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68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填坑策略</a:t>
            </a:r>
          </a:p>
        </p:txBody>
      </p:sp>
      <p:sp>
        <p:nvSpPr>
          <p:cNvPr id="10169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先搭好整体的高速公路(架构接口)，然后再往各个模块里填高级车(算法)。</a:t>
            </a: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70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模块间交互流 (Data Flow)</a:t>
            </a:r>
          </a:p>
        </p:txBody>
      </p:sp>
      <p:sp>
        <p:nvSpPr>
          <p:cNvPr id="10171" name="TextBox 2"/>
          <p:cNvSpPr/>
          <p:nvPr/>
        </p:nvSpPr>
        <p:spPr>
          <a:xfrm xmlns:a="http://schemas.openxmlformats.org/drawingml/2006/main">
            <a:off x="5400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72" name="TextBox 3"/>
          <p:cNvSpPr/>
          <p:nvPr/>
        </p:nvSpPr>
        <p:spPr>
          <a:xfrm xmlns:a="http://schemas.openxmlformats.org/drawingml/2006/main">
            <a:off x="6120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输入层</a:t>
            </a:r>
          </a:p>
        </p:txBody>
      </p:sp>
      <p:sp>
        <p:nvSpPr>
          <p:cNvPr id="10173" name="TextBox 4"/>
          <p:cNvSpPr/>
          <p:nvPr/>
        </p:nvSpPr>
        <p:spPr>
          <a:xfrm xmlns:a="http://schemas.openxmlformats.org/drawingml/2006/main">
            <a:off x="6120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化学输入(YAML) -&gt; 经典化学(PySCF)得到积分</a:t>
            </a:r>
          </a:p>
        </p:txBody>
      </p:sp>
      <p:sp>
        <p:nvSpPr>
          <p:cNvPr id="10174" name="TextBox 5"/>
          <p:cNvSpPr/>
          <p:nvPr/>
        </p:nvSpPr>
        <p:spPr>
          <a:xfrm xmlns:a="http://schemas.openxmlformats.org/drawingml/2006/main">
            <a:off x="43644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75" name="TextBox 6"/>
          <p:cNvSpPr/>
          <p:nvPr/>
        </p:nvSpPr>
        <p:spPr>
          <a:xfrm xmlns:a="http://schemas.openxmlformats.org/drawingml/2006/main">
            <a:off x="44364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量子层</a:t>
            </a:r>
          </a:p>
        </p:txBody>
      </p:sp>
      <p:sp>
        <p:nvSpPr>
          <p:cNvPr id="10176" name="TextBox 7"/>
          <p:cNvSpPr/>
          <p:nvPr/>
        </p:nvSpPr>
        <p:spPr>
          <a:xfrm xmlns:a="http://schemas.openxmlformats.org/drawingml/2006/main">
            <a:off x="44364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哈密顿量与 Ansatz → 电路 IR / 编译</a:t>
            </a:r>
          </a:p>
        </p:txBody>
      </p:sp>
      <p:sp>
        <p:nvSpPr>
          <p:cNvPr id="10177" name="TextBox 8"/>
          <p:cNvSpPr/>
          <p:nvPr/>
        </p:nvSpPr>
        <p:spPr>
          <a:xfrm xmlns:a="http://schemas.openxmlformats.org/drawingml/2006/main">
            <a:off x="8188800" y="1440000"/>
            <a:ext cx="34644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78" name="TextBox 9"/>
          <p:cNvSpPr/>
          <p:nvPr/>
        </p:nvSpPr>
        <p:spPr>
          <a:xfrm xmlns:a="http://schemas.openxmlformats.org/drawingml/2006/main">
            <a:off x="8260800" y="1620000"/>
            <a:ext cx="33204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Georgia"/>
                <a:ea typeface="Georgia"/>
              </a:rPr>
              <a:t>执行层</a:t>
            </a:r>
          </a:p>
        </p:txBody>
      </p:sp>
      <p:sp>
        <p:nvSpPr>
          <p:cNvPr id="10179" name="TextBox 10"/>
          <p:cNvSpPr/>
          <p:nvPr/>
        </p:nvSpPr>
        <p:spPr>
          <a:xfrm xmlns:a="http://schemas.openxmlformats.org/drawingml/2006/main">
            <a:off x="8260800" y="2520000"/>
            <a:ext cx="33204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FFFFFF"/>
                </a:solidFill>
                <a:latin typeface="Calibri"/>
                <a:ea typeface="Calibri"/>
              </a:rPr>
              <a:t>多后端分发 -&gt; 汇总态与能量 -&gt; Repro日志</a:t>
            </a: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80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第一步：快速复现竞品功能</a:t>
            </a:r>
          </a:p>
        </p:txBody>
      </p:sp>
      <p:sp>
        <p:nvSpPr>
          <p:cNvPr id="10181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先挑选 InQuanto 和 Tangelo 中最典型的功能(如VQE, DMET)</a:t>
            </a:r>
          </a:p>
        </p:txBody>
      </p:sp>
      <p:sp>
        <p:nvSpPr>
          <p:cNvPr id="10182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使用我们自研的这套框架进行复现</a:t>
            </a:r>
          </a:p>
        </p:txBody>
      </p:sp>
      <p:sp>
        <p:nvSpPr>
          <p:cNvPr id="10183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验证能否用同样的化学输入得到一致的输出(Parity一致性)</a:t>
            </a:r>
          </a:p>
        </p:txBody>
      </p:sp>
      <p:sp>
        <p:nvSpPr>
          <p:cNvPr id="10184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在内部输出对比报告，确认架构灵活性</a:t>
            </a:r>
          </a:p>
        </p:txBody>
      </p:sp>
      <p:sp>
        <p:nvSpPr>
          <p:cNvPr id="10185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86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复现</a:t>
            </a:r>
          </a:p>
        </p:txBody>
      </p:sp>
      <p:sp>
        <p:nvSpPr>
          <p:cNvPr id="10187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这是检验架构承载能力的试金石。</a:t>
            </a: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88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第二步：文献复现与新算法支持</a:t>
            </a:r>
          </a:p>
        </p:txBody>
      </p:sp>
      <p:sp>
        <p:nvSpPr>
          <p:cNvPr id="10189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用我们的框架复现顶级期刊(Nature/Science子刊)中的量子化学实验</a:t>
            </a:r>
          </a:p>
        </p:txBody>
      </p:sp>
      <p:sp>
        <p:nvSpPr>
          <p:cNvPr id="10190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确保生成的Repro JSON可以直接作为论文的Methods附件</a:t>
            </a:r>
          </a:p>
        </p:txBody>
      </p:sp>
      <p:sp>
        <p:nvSpPr>
          <p:cNvPr id="10191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开发支持内部研究员测试新量子算法(如新VQE变种)的插件体系</a:t>
            </a:r>
          </a:p>
        </p:txBody>
      </p:sp>
      <p:sp>
        <p:nvSpPr>
          <p:cNvPr id="10192" name="TextBox 5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193" name="TextBox 6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科研背书</a:t>
            </a:r>
          </a:p>
        </p:txBody>
      </p:sp>
      <p:sp>
        <p:nvSpPr>
          <p:cNvPr id="10194" name="TextBox 7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通过复现文献建立学术界公信力，这比任何广告都有效。</a:t>
            </a:r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95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第三步：API接入ML与自研MD</a:t>
            </a:r>
          </a:p>
        </p:txBody>
      </p:sp>
      <p:sp>
        <p:nvSpPr>
          <p:cNvPr id="10196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量子侧输出的能量和力，不再只是终点，而是起点</a:t>
            </a:r>
          </a:p>
        </p:txBody>
      </p:sp>
      <p:sp>
        <p:nvSpPr>
          <p:cNvPr id="10197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对接分子动力学(QMEFDataset, NequIP/MACE hooks)</a:t>
            </a:r>
          </a:p>
        </p:txBody>
      </p:sp>
      <p:sp>
        <p:nvSpPr>
          <p:cNvPr id="10198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训练基于量子高精度的自研分子动力学力场</a:t>
            </a:r>
          </a:p>
        </p:txBody>
      </p:sp>
      <p:sp>
        <p:nvSpPr>
          <p:cNvPr id="10199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利用ML Surrogate替代部分昂贵的量子模拟</a:t>
            </a:r>
          </a:p>
        </p:txBody>
      </p:sp>
      <p:sp>
        <p:nvSpPr>
          <p:cNvPr id="10200" name="TextBox 6"/>
          <p:cNvSpPr/>
          <p:nvPr/>
        </p:nvSpPr>
        <p:spPr>
          <a:xfrm xmlns:a="http://schemas.openxmlformats.org/drawingml/2006/main">
            <a:off x="5940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01" name="TextBox 7"/>
          <p:cNvSpPr/>
          <p:nvPr/>
        </p:nvSpPr>
        <p:spPr>
          <a:xfrm xmlns:a="http://schemas.openxmlformats.org/drawingml/2006/main">
            <a:off x="6012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QC</a:t>
            </a:r>
          </a:p>
        </p:txBody>
      </p:sp>
      <p:sp>
        <p:nvSpPr>
          <p:cNvPr id="10202" name="TextBox 8"/>
          <p:cNvSpPr/>
          <p:nvPr/>
        </p:nvSpPr>
        <p:spPr>
          <a:xfrm xmlns:a="http://schemas.openxmlformats.org/drawingml/2006/main">
            <a:off x="6012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高精度数据</a:t>
            </a:r>
          </a:p>
        </p:txBody>
      </p:sp>
      <p:sp>
        <p:nvSpPr>
          <p:cNvPr id="10203" name="TextBox 9"/>
          <p:cNvSpPr/>
          <p:nvPr/>
        </p:nvSpPr>
        <p:spPr>
          <a:xfrm xmlns:a="http://schemas.openxmlformats.org/drawingml/2006/main">
            <a:off x="6012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能量与力</a:t>
            </a:r>
          </a:p>
        </p:txBody>
      </p:sp>
      <p:sp>
        <p:nvSpPr>
          <p:cNvPr id="10204" name="TextBox 10"/>
          <p:cNvSpPr/>
          <p:nvPr/>
        </p:nvSpPr>
        <p:spPr>
          <a:xfrm xmlns:a="http://schemas.openxmlformats.org/drawingml/2006/main">
            <a:off x="7812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05" name="TextBox 11"/>
          <p:cNvSpPr/>
          <p:nvPr/>
        </p:nvSpPr>
        <p:spPr>
          <a:xfrm xmlns:a="http://schemas.openxmlformats.org/drawingml/2006/main">
            <a:off x="7884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ML</a:t>
            </a:r>
          </a:p>
        </p:txBody>
      </p:sp>
      <p:sp>
        <p:nvSpPr>
          <p:cNvPr id="10206" name="TextBox 12"/>
          <p:cNvSpPr/>
          <p:nvPr/>
        </p:nvSpPr>
        <p:spPr>
          <a:xfrm xmlns:a="http://schemas.openxmlformats.org/drawingml/2006/main">
            <a:off x="7884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势函数训练</a:t>
            </a:r>
          </a:p>
        </p:txBody>
      </p:sp>
      <p:sp>
        <p:nvSpPr>
          <p:cNvPr id="10207" name="TextBox 13"/>
          <p:cNvSpPr/>
          <p:nvPr/>
        </p:nvSpPr>
        <p:spPr>
          <a:xfrm xmlns:a="http://schemas.openxmlformats.org/drawingml/2006/main">
            <a:off x="7884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提升规模</a:t>
            </a:r>
          </a:p>
        </p:txBody>
      </p:sp>
      <p:sp>
        <p:nvSpPr>
          <p:cNvPr id="10208" name="TextBox 14"/>
          <p:cNvSpPr/>
          <p:nvPr/>
        </p:nvSpPr>
        <p:spPr>
          <a:xfrm xmlns:a="http://schemas.openxmlformats.org/drawingml/2006/main">
            <a:off x="9684000" y="1260000"/>
            <a:ext cx="1728000" cy="3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09" name="TextBox 15"/>
          <p:cNvSpPr/>
          <p:nvPr/>
        </p:nvSpPr>
        <p:spPr>
          <a:xfrm xmlns:a="http://schemas.openxmlformats.org/drawingml/2006/main">
            <a:off x="9756000" y="1440000"/>
            <a:ext cx="1584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Georgia"/>
                <a:ea typeface="Georgia"/>
              </a:rPr>
              <a:t>MD</a:t>
            </a:r>
          </a:p>
        </p:txBody>
      </p:sp>
      <p:sp>
        <p:nvSpPr>
          <p:cNvPr id="10210" name="TextBox 16"/>
          <p:cNvSpPr/>
          <p:nvPr/>
        </p:nvSpPr>
        <p:spPr>
          <a:xfrm xmlns:a="http://schemas.openxmlformats.org/drawingml/2006/main">
            <a:off x="9756000" y="216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solidFill>
                  <a:srgbClr val="CADCFC"/>
                </a:solidFill>
                <a:latin typeface="Georgia"/>
                <a:ea typeface="Georgia"/>
              </a:rPr>
              <a:t>大分子演化</a:t>
            </a:r>
          </a:p>
        </p:txBody>
      </p:sp>
      <p:sp>
        <p:nvSpPr>
          <p:cNvPr id="10211" name="TextBox 17"/>
          <p:cNvSpPr/>
          <p:nvPr/>
        </p:nvSpPr>
        <p:spPr>
          <a:xfrm xmlns:a="http://schemas.openxmlformats.org/drawingml/2006/main">
            <a:off x="9756000" y="3600000"/>
            <a:ext cx="1584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0">
                <a:solidFill>
                  <a:srgbClr val="FFFFFF"/>
                </a:solidFill>
                <a:latin typeface="Calibri"/>
                <a:ea typeface="Calibri"/>
              </a:rPr>
              <a:t>产业级应用</a:t>
            </a:r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212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最终目标：端到端全连通</a:t>
            </a:r>
          </a:p>
        </p:txBody>
      </p:sp>
      <p:sp>
        <p:nvSpPr>
          <p:cNvPr id="10213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输入：分子结构与业务需求</a:t>
            </a:r>
          </a:p>
        </p:txBody>
      </p:sp>
      <p:sp>
        <p:nvSpPr>
          <p:cNvPr id="10214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引擎：量子计算+计算化学框架智能拆解计算任务</a:t>
            </a:r>
          </a:p>
        </p:txBody>
      </p:sp>
      <p:sp>
        <p:nvSpPr>
          <p:cNvPr id="10215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放大：通过ML力场扩展到大尺度模拟</a:t>
            </a:r>
          </a:p>
        </p:txBody>
      </p:sp>
      <p:sp>
        <p:nvSpPr>
          <p:cNvPr id="10216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输出：材料性质或药物活性预测</a:t>
            </a:r>
          </a:p>
        </p:txBody>
      </p:sp>
      <p:sp>
        <p:nvSpPr>
          <p:cNvPr id="10217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18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全链路闭环</a:t>
            </a:r>
          </a:p>
        </p:txBody>
      </p:sp>
      <p:sp>
        <p:nvSpPr>
          <p:cNvPr id="10219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不仅解决了如何算得准的问题，更解决了算准了有什么用的问题。</a:t>
            </a:r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220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近期执行路线 (Roadmap)</a:t>
            </a:r>
          </a:p>
        </p:txBody>
      </p:sp>
      <p:sp>
        <p:nvSpPr>
          <p:cNvPr id="10221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下个月：冻结Repro schema，打通VQE/ADAPT的基础骨架</a:t>
            </a:r>
          </a:p>
        </p:txBody>
      </p:sp>
      <p:sp>
        <p:nvSpPr>
          <p:cNvPr id="10222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Q3：复现主流架构，推出完善的多后端支持与DMET</a:t>
            </a:r>
          </a:p>
        </p:txBody>
      </p:sp>
      <p:sp>
        <p:nvSpPr>
          <p:cNvPr id="10223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Q4：上线MD/ML接口，跑通内部第一个势函数训练Demo</a:t>
            </a:r>
          </a:p>
        </p:txBody>
      </p:sp>
      <p:sp>
        <p:nvSpPr>
          <p:cNvPr id="10224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长期：迭代算法，打磨开发者文档与VitePress知识库</a:t>
            </a:r>
          </a:p>
        </p:txBody>
      </p:sp>
      <p:sp>
        <p:nvSpPr>
          <p:cNvPr id="10225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26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行动指南</a:t>
            </a:r>
          </a:p>
        </p:txBody>
      </p:sp>
      <p:sp>
        <p:nvSpPr>
          <p:cNvPr id="10227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架构先行，场景驱动，生态制胜。</a:t>
            </a: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228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补充架构细节：编译与作业投递</a:t>
            </a:r>
          </a:p>
        </p:txBody>
      </p:sp>
      <p:sp>
        <p:nvSpPr>
          <p:cNvPr id="10229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后端(BackendSpec)抽象：兼容Statevector与Qiskit</a:t>
            </a:r>
          </a:p>
        </p:txBody>
      </p:sp>
      <p:sp>
        <p:nvSpPr>
          <p:cNvPr id="10230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TKET Bridge：统一接管电路优化和资源度量(Metrics)</a:t>
            </a:r>
          </a:p>
        </p:txBody>
      </p:sp>
      <p:sp>
        <p:nvSpPr>
          <p:cNvPr id="10231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异步作业类比(Nexus Analog)：通过SQLite支持本地高并发</a:t>
            </a:r>
          </a:p>
        </p:txBody>
      </p:sp>
      <p:sp>
        <p:nvSpPr>
          <p:cNvPr id="10232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未来云端入口：预留了HTTP与Job DB的对接点</a:t>
            </a:r>
          </a:p>
        </p:txBody>
      </p:sp>
      <p:sp>
        <p:nvSpPr>
          <p:cNvPr id="10233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34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工程细节</a:t>
            </a:r>
          </a:p>
        </p:txBody>
      </p:sp>
      <p:sp>
        <p:nvSpPr>
          <p:cNvPr id="10235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所有编译和硬件相关的不稳定因素，全部隔离在Backend适配层。</a:t>
            </a: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236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补充架构细节：Repro与Parity系统</a:t>
            </a:r>
          </a:p>
        </p:txBody>
      </p:sp>
      <p:sp>
        <p:nvSpPr>
          <p:cNvPr id="10237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每一条实验配置都生成唯一的Hash</a:t>
            </a:r>
          </a:p>
        </p:txBody>
      </p:sp>
      <p:sp>
        <p:nvSpPr>
          <p:cNvPr id="10238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记录详尽的测算资源：线路数、射击数(shots)、编译开销</a:t>
            </a:r>
          </a:p>
        </p:txBody>
      </p:sp>
      <p:sp>
        <p:nvSpPr>
          <p:cNvPr id="10239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导出标准JSON，作为可回溯、可审计的唯一真理</a:t>
            </a:r>
          </a:p>
        </p:txBody>
      </p:sp>
      <p:sp>
        <p:nvSpPr>
          <p:cNvPr id="10240" name="TextBox 5"/>
          <p:cNvSpPr/>
          <p:nvPr/>
        </p:nvSpPr>
        <p:spPr>
          <a:xfrm xmlns:a="http://schemas.openxmlformats.org/drawingml/2006/main">
            <a:off x="540000" y="3744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这是超越散装脚本库的根本</a:t>
            </a:r>
          </a:p>
        </p:txBody>
      </p:sp>
      <p:sp>
        <p:nvSpPr>
          <p:cNvPr id="10241" name="TextBox 6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42" name="TextBox 7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审计级日志</a:t>
            </a:r>
          </a:p>
        </p:txBody>
      </p:sp>
      <p:sp>
        <p:nvSpPr>
          <p:cNvPr id="10243" name="TextBox 8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可审计性(Auditability)是B端客户采购平台的核心考量。</a:t>
            </a: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244" name="TextBox 1"/>
          <p:cNvSpPr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E2761"/>
                </a:solidFill>
                <a:latin typeface="Georgia"/>
                <a:ea typeface="Georgia"/>
              </a:rPr>
              <a:t>团队协作与质量保证</a:t>
            </a:r>
          </a:p>
        </p:txBody>
      </p:sp>
      <p:sp>
        <p:nvSpPr>
          <p:cNvPr id="10245" name="TextBox 2"/>
          <p:cNvSpPr/>
          <p:nvPr/>
        </p:nvSpPr>
        <p:spPr>
          <a:xfrm xmlns:a="http://schemas.openxmlformats.org/drawingml/2006/main">
            <a:off x="540000" y="1260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自动化测试(CI)覆盖所有核心路径(Smoke tests)</a:t>
            </a:r>
          </a:p>
        </p:txBody>
      </p:sp>
      <p:sp>
        <p:nvSpPr>
          <p:cNvPr id="10246" name="TextBox 3"/>
          <p:cNvSpPr/>
          <p:nvPr/>
        </p:nvSpPr>
        <p:spPr>
          <a:xfrm xmlns:a="http://schemas.openxmlformats.org/drawingml/2006/main">
            <a:off x="540000" y="2088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在PR阶段执行跨后端一致性校验(Conformance)</a:t>
            </a:r>
          </a:p>
        </p:txBody>
      </p:sp>
      <p:sp>
        <p:nvSpPr>
          <p:cNvPr id="10247" name="TextBox 4"/>
          <p:cNvSpPr/>
          <p:nvPr/>
        </p:nvSpPr>
        <p:spPr>
          <a:xfrm xmlns:a="http://schemas.openxmlformats.org/drawingml/2006/main">
            <a:off x="540000" y="2916000"/>
            <a:ext cx="50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• 坚持文档即代码，中文工程台账与英文公开文档同步维护</a:t>
            </a:r>
          </a:p>
        </p:txBody>
      </p:sp>
      <p:sp>
        <p:nvSpPr>
          <p:cNvPr id="10248" name="TextBox 5"/>
          <p:cNvSpPr/>
          <p:nvPr/>
        </p:nvSpPr>
        <p:spPr>
          <a:xfrm xmlns:a="http://schemas.openxmlformats.org/drawingml/2006/main">
            <a:off x="5940000" y="1260000"/>
            <a:ext cx="540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333333"/>
                </a:solidFill>
                <a:latin typeface="Georgia"/>
                <a:ea typeface="Georgia"/>
              </a:rPr>
              <a:t/>
            </a:r>
          </a:p>
        </p:txBody>
      </p:sp>
      <p:sp>
        <p:nvSpPr>
          <p:cNvPr id="10249" name="TextBox 6"/>
          <p:cNvSpPr/>
          <p:nvPr/>
        </p:nvSpPr>
        <p:spPr>
          <a:xfrm xmlns:a="http://schemas.openxmlformats.org/drawingml/2006/main">
            <a:off x="6120000" y="1440000"/>
            <a:ext cx="50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400" b="1">
                <a:solidFill>
                  <a:srgbClr val="1E2761"/>
                </a:solidFill>
                <a:latin typeface="Georgia"/>
                <a:ea typeface="Georgia"/>
              </a:rPr>
              <a:t>质量控制</a:t>
            </a:r>
          </a:p>
        </p:txBody>
      </p:sp>
      <p:sp>
        <p:nvSpPr>
          <p:cNvPr id="10250" name="TextBox 7"/>
          <p:cNvSpPr/>
          <p:nvPr/>
        </p:nvSpPr>
        <p:spPr>
          <a:xfrm xmlns:a="http://schemas.openxmlformats.org/drawingml/2006/main">
            <a:off x="6120000" y="2160000"/>
            <a:ext cx="50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0">
                <a:solidFill>
                  <a:srgbClr val="333333"/>
                </a:solidFill>
                <a:latin typeface="Calibri"/>
                <a:ea typeface="Calibri"/>
              </a:rPr>
              <a:t>用现代软件工程的方法，做高精尖的量子平台。</a:t>
            </a: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251" name="TextBox 1"/>
          <p:cNvSpPr/>
          <p:nvPr/>
        </p:nvSpPr>
        <p:spPr>
          <a:xfrm xmlns:a="http://schemas.openxmlformats.org/drawingml/2006/main">
            <a:off x="720000" y="2520000"/>
            <a:ext cx="10753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Georgia"/>
                <a:ea typeface="Georgia"/>
              </a:rPr>
              <a:t>感谢聆听！</a:t>
            </a:r>
          </a:p>
        </p:txBody>
      </p:sp>
      <p:sp>
        <p:nvSpPr>
          <p:cNvPr id="10252" name="TextBox 2"/>
          <p:cNvSpPr/>
          <p:nvPr/>
        </p:nvSpPr>
        <p:spPr>
          <a:xfrm xmlns:a="http://schemas.openxmlformats.org/drawingml/2006/main">
            <a:off x="720000" y="3960000"/>
            <a:ext cx="107532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Q&amp;A 环节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OfficeCLI/1.0.85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2026-05-11T14:49:43Z</dcterms:created>
  <cp:lastModifiedBy>OfficeCLI</cp:lastModifiedBy>
  <dcterms:modified xsi:type="dcterms:W3CDTF">2026-05-11T14:49:43Z</dcterms:modified>
</cp:coreProperties>
</file>