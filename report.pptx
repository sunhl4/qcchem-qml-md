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f1f9f64466e4803" /><Relationship Type="http://schemas.openxmlformats.org/package/2006/relationships/metadata/core-properties" Target="/docProps/core.xml" Id="R084bbf960693474f" /><Relationship Type="http://schemas.openxmlformats.org/officeDocument/2006/relationships/extended-properties" Target="/docProps/app.xml" Id="R78a9cebbcabb4eb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4ba5a2ab96c64a17"/>
    <p:sldId id="257" r:id="R51c401777a2e40b9"/>
    <p:sldId id="258" r:id="R0ffbf43ba7824fb3"/>
    <p:sldId id="259" r:id="R9978a9223e9a4722"/>
    <p:sldId id="260" r:id="Rfa6e3397206b4e89"/>
    <p:sldId id="261" r:id="R1173eb999d1d4718"/>
    <p:sldId id="262" r:id="Ra2c26a001fd74a52"/>
    <p:sldId id="263" r:id="R20ba4c29d3924ffa"/>
    <p:sldId id="264" r:id="R20cccae5f28c40b6"/>
    <p:sldId id="265" r:id="R7d4792f958fa4663"/>
    <p:sldId id="266" r:id="R8d65d1a206464259"/>
    <p:sldId id="267" r:id="Rcc24a82047ec48ad"/>
    <p:sldId id="268" r:id="R4f6e335283fb40c9"/>
    <p:sldId id="269" r:id="Rfe4cd6f3835f4a05"/>
    <p:sldId id="270" r:id="Ree85567dc6534ba5"/>
    <p:sldId id="271" r:id="R1b5adc2dcaed45e3"/>
    <p:sldId id="272" r:id="R511e2d7f3dbf46fe"/>
    <p:sldId id="273" r:id="Ra3fc8e1b06354cac"/>
    <p:sldId id="274" r:id="Raa5a54b20a4645ea"/>
    <p:sldId id="275" r:id="R1f5c81b8180a401a"/>
    <p:sldId id="276" r:id="Rde39021698d54874"/>
    <p:sldId id="277" r:id="Rb4cc975649d146dd"/>
    <p:sldId id="278" r:id="Re452e32a13ac47c2"/>
    <p:sldId id="279" r:id="R95af4e1457954ee5"/>
    <p:sldId id="280" r:id="R0e777e8d3e9e4dbb"/>
    <p:sldId id="281" r:id="Reb29d6bba1284c5c"/>
    <p:sldId id="282" r:id="Rbca1f0792dbb47e9"/>
    <p:sldId id="283" r:id="Rb2dbe717380546f9"/>
    <p:sldId id="284" r:id="R20d227fad6504d20"/>
    <p:sldId id="285" r:id="R9feea05d4df44707"/>
    <p:sldId id="286" r:id="R19266fd406144f7c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4ba5a2ab96c64a17" /><Relationship Type="http://schemas.openxmlformats.org/officeDocument/2006/relationships/slide" Target="/ppt/slides/slide2.xml" Id="R51c401777a2e40b9" /><Relationship Type="http://schemas.openxmlformats.org/officeDocument/2006/relationships/slide" Target="/ppt/slides/slide3.xml" Id="R0ffbf43ba7824fb3" /><Relationship Type="http://schemas.openxmlformats.org/officeDocument/2006/relationships/slide" Target="/ppt/slides/slide4.xml" Id="R9978a9223e9a4722" /><Relationship Type="http://schemas.openxmlformats.org/officeDocument/2006/relationships/slide" Target="/ppt/slides/slide5.xml" Id="Rfa6e3397206b4e89" /><Relationship Type="http://schemas.openxmlformats.org/officeDocument/2006/relationships/slide" Target="/ppt/slides/slide6.xml" Id="R1173eb999d1d4718" /><Relationship Type="http://schemas.openxmlformats.org/officeDocument/2006/relationships/slide" Target="/ppt/slides/slide7.xml" Id="Ra2c26a001fd74a52" /><Relationship Type="http://schemas.openxmlformats.org/officeDocument/2006/relationships/slide" Target="/ppt/slides/slide8.xml" Id="R20ba4c29d3924ffa" /><Relationship Type="http://schemas.openxmlformats.org/officeDocument/2006/relationships/slide" Target="/ppt/slides/slide9.xml" Id="R20cccae5f28c40b6" /><Relationship Type="http://schemas.openxmlformats.org/officeDocument/2006/relationships/slide" Target="/ppt/slides/slide10.xml" Id="R7d4792f958fa4663" /><Relationship Type="http://schemas.openxmlformats.org/officeDocument/2006/relationships/slide" Target="/ppt/slides/slide11.xml" Id="R8d65d1a206464259" /><Relationship Type="http://schemas.openxmlformats.org/officeDocument/2006/relationships/slide" Target="/ppt/slides/slide12.xml" Id="Rcc24a82047ec48ad" /><Relationship Type="http://schemas.openxmlformats.org/officeDocument/2006/relationships/slide" Target="/ppt/slides/slide13.xml" Id="R4f6e335283fb40c9" /><Relationship Type="http://schemas.openxmlformats.org/officeDocument/2006/relationships/slide" Target="/ppt/slides/slide14.xml" Id="Rfe4cd6f3835f4a05" /><Relationship Type="http://schemas.openxmlformats.org/officeDocument/2006/relationships/slide" Target="/ppt/slides/slide15.xml" Id="Ree85567dc6534ba5" /><Relationship Type="http://schemas.openxmlformats.org/officeDocument/2006/relationships/slide" Target="/ppt/slides/slide16.xml" Id="R1b5adc2dcaed45e3" /><Relationship Type="http://schemas.openxmlformats.org/officeDocument/2006/relationships/slide" Target="/ppt/slides/slide17.xml" Id="R511e2d7f3dbf46fe" /><Relationship Type="http://schemas.openxmlformats.org/officeDocument/2006/relationships/slide" Target="/ppt/slides/slide18.xml" Id="Ra3fc8e1b06354cac" /><Relationship Type="http://schemas.openxmlformats.org/officeDocument/2006/relationships/slide" Target="/ppt/slides/slide19.xml" Id="Raa5a54b20a4645ea" /><Relationship Type="http://schemas.openxmlformats.org/officeDocument/2006/relationships/slide" Target="/ppt/slides/slide20.xml" Id="R1f5c81b8180a401a" /><Relationship Type="http://schemas.openxmlformats.org/officeDocument/2006/relationships/slide" Target="/ppt/slides/slide21.xml" Id="Rde39021698d54874" /><Relationship Type="http://schemas.openxmlformats.org/officeDocument/2006/relationships/slide" Target="/ppt/slides/slide22.xml" Id="Rb4cc975649d146dd" /><Relationship Type="http://schemas.openxmlformats.org/officeDocument/2006/relationships/slide" Target="/ppt/slides/slide23.xml" Id="Re452e32a13ac47c2" /><Relationship Type="http://schemas.openxmlformats.org/officeDocument/2006/relationships/slide" Target="/ppt/slides/slide24.xml" Id="R95af4e1457954ee5" /><Relationship Type="http://schemas.openxmlformats.org/officeDocument/2006/relationships/slide" Target="/ppt/slides/slide25.xml" Id="R0e777e8d3e9e4dbb" /><Relationship Type="http://schemas.openxmlformats.org/officeDocument/2006/relationships/slide" Target="/ppt/slides/slide26.xml" Id="Reb29d6bba1284c5c" /><Relationship Type="http://schemas.openxmlformats.org/officeDocument/2006/relationships/slide" Target="/ppt/slides/slide27.xml" Id="Rbca1f0792dbb47e9" /><Relationship Type="http://schemas.openxmlformats.org/officeDocument/2006/relationships/slide" Target="/ppt/slides/slide28.xml" Id="Rb2dbe717380546f9" /><Relationship Type="http://schemas.openxmlformats.org/officeDocument/2006/relationships/slide" Target="/ppt/slides/slide29.xml" Id="R20d227fad6504d20" /><Relationship Type="http://schemas.openxmlformats.org/officeDocument/2006/relationships/slide" Target="/ppt/slides/slide30.xml" Id="R9feea05d4df44707" /><Relationship Type="http://schemas.openxmlformats.org/officeDocument/2006/relationships/slide" Target="/ppt/slides/slide31.xml" Id="R19266fd406144f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开场白，欢迎大家参加组会。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进入第 01 部分：为什么作为硬件公司要做本工程？。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讲解内容：硬件公司的破局点。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对比卡片讲解：硬件与应用双轮驱动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讲解内容：构建开源工作流平台的战略价值。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讲解内容：为什么不能直接用已有的开源工具？。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讲解内容：我们的定位。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进入第 02 部分：竞品分析：InQuanto 与 Tangelo。</a:t>
            </a:r>
          </a:p>
        </p:txBody>
      </p:sp>
    </p:spTree>
  </p:cSld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对比卡片讲解：InQuanto：商业平台标杆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讲解内容：InQuanto 工作流原理。</a:t>
            </a:r>
          </a:p>
        </p:txBody>
      </p:sp>
    </p:spTree>
  </p:cSld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对比卡片讲解：Tangelo：开源工具箱</a:t>
            </a:r>
          </a:p>
        </p:txBody>
      </p:sp>
    </p:spTree>
  </p:cSld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讲解内容：Tangelo 工作流原理。</a:t>
            </a:r>
          </a:p>
        </p:txBody>
      </p:sp>
    </p:spTree>
  </p:cSld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功能覆盖率对比(示意)</a:t>
            </a:r>
          </a:p>
        </p:txBody>
      </p:sp>
    </p:spTree>
  </p:cSld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讲解内容：竞品分析总结。</a:t>
            </a:r>
          </a:p>
        </p:txBody>
      </p:sp>
    </p:spTree>
  </p:cSld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进入第 03 部分：我们的优劣势与应对策略。</a:t>
            </a:r>
          </a:p>
        </p:txBody>
      </p:sp>
    </p:spTree>
  </p:cSld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对比卡片讲解：我们的核心优势</a:t>
            </a:r>
          </a:p>
        </p:txBody>
      </p:sp>
    </p:spTree>
  </p:cSld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对比卡片讲解：目前的劣势</a:t>
            </a:r>
          </a:p>
        </p:txBody>
      </p:sp>
    </p:spTree>
  </p:cSld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讲解内容：策略：我们要做什么？。</a:t>
            </a:r>
          </a:p>
        </p:txBody>
      </p:sp>
    </p:spTree>
  </p:cSld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讲解内容：竞争定调：P0 到 P3。</a:t>
            </a:r>
          </a:p>
        </p:txBody>
      </p:sp>
    </p:spTree>
  </p:cSld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进入第 04 部分：接下来的计划与架构设计。</a:t>
            </a:r>
          </a:p>
        </p:txBody>
      </p:sp>
    </p:spTree>
  </p:cSld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讲解内容：整体架构设计：从前向后填。</a:t>
            </a: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对比卡片讲解：模块间交互流 (Data Flow)</a:t>
            </a:r>
          </a:p>
        </p:txBody>
      </p:sp>
    </p:spTree>
  </p:cSld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讲解内容：第一步：快速复现竞品功能。</a:t>
            </a:r>
          </a:p>
        </p:txBody>
      </p:sp>
    </p:spTree>
  </p:cSld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讲解内容：第二步：文献复现与新算法支持。</a:t>
            </a:r>
          </a:p>
        </p:txBody>
      </p:sp>
    </p:spTree>
  </p:cSld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讲解内容：第三步：API接入ML与自研MD。</a:t>
            </a:r>
          </a:p>
        </p:txBody>
      </p:sp>
    </p:spTree>
  </p:cSld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讲解内容：最终目标：端到端全连通。</a:t>
            </a:r>
          </a:p>
        </p:txBody>
      </p:sp>
    </p:spTree>
  </p:cSld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讲解内容：近期执行路线 (Roadmap)。</a:t>
            </a:r>
          </a:p>
        </p:txBody>
      </p:sp>
    </p:spTree>
  </p:cSld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开场白，欢迎大家参加组会。</a:t>
            </a:r>
          </a:p>
        </p:txBody>
      </p:sp>
    </p:spTree>
  </p:cSld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讲解内容：补充架构细节：编译与作业投递。</a:t>
            </a:r>
          </a:p>
        </p:txBody>
      </p:sp>
    </p:spTree>
  </p:cSld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讲解内容：补充架构细节：Repro与Parity系统。</a:t>
            </a:r>
          </a:p>
        </p:txBody>
      </p:sp>
    </p:spTree>
  </p:cSld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讲解内容：团队协作与质量保证。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773d352cca4e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6a99c2b24540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69f64a489e4b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2594f4432547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537ff5f3a4453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aac50d3aa09749c9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97ebad7114c6d" /><Relationship Type="http://schemas.openxmlformats.org/officeDocument/2006/relationships/notesSlide" Target="/ppt/notesSlides/notesSlide1.xml" Id="Rc3816a50dfcf42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0231bd000490c" /><Relationship Type="http://schemas.openxmlformats.org/officeDocument/2006/relationships/notesSlide" Target="/ppt/notesSlides/notesSlide2.xml" Id="R5e2cf81eaaab4b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58a62ab464c9b" /><Relationship Type="http://schemas.openxmlformats.org/officeDocument/2006/relationships/notesSlide" Target="/ppt/notesSlides/notesSlide3.xml" Id="R09454688f5e244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a46ac23964faa" /><Relationship Type="http://schemas.openxmlformats.org/officeDocument/2006/relationships/notesSlide" Target="/ppt/notesSlides/notesSlide4.xml" Id="R8129708a6af54c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5bd85b2e641ee" /><Relationship Type="http://schemas.openxmlformats.org/officeDocument/2006/relationships/notesSlide" Target="/ppt/notesSlides/notesSlide5.xml" Id="R3b04e8bf250348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a32e59c094294" /><Relationship Type="http://schemas.openxmlformats.org/officeDocument/2006/relationships/notesSlide" Target="/ppt/notesSlides/notesSlide6.xml" Id="R0968b69f62fc4f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db02ce87a482d" /><Relationship Type="http://schemas.openxmlformats.org/officeDocument/2006/relationships/notesSlide" Target="/ppt/notesSlides/notesSlide7.xml" Id="R1b48c41a1efc43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8b121145b4b5f" /><Relationship Type="http://schemas.openxmlformats.org/officeDocument/2006/relationships/notesSlide" Target="/ppt/notesSlides/notesSlide8.xml" Id="Rc53cac8ffaa14d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33bfec54c49ee" /><Relationship Type="http://schemas.openxmlformats.org/officeDocument/2006/relationships/notesSlide" Target="/ppt/notesSlides/notesSlide9.xml" Id="R698e1081bb914b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ee19223b544b4" /><Relationship Type="http://schemas.openxmlformats.org/officeDocument/2006/relationships/notesSlide" Target="/ppt/notesSlides/notesSlide10.xml" Id="R59c370d8cd5d4b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ce159cdb94b34" /><Relationship Type="http://schemas.openxmlformats.org/officeDocument/2006/relationships/notesSlide" Target="/ppt/notesSlides/notesSlide11.xml" Id="Ra5ef67f5bf3c4f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71d5b2f7348b8" /><Relationship Type="http://schemas.openxmlformats.org/officeDocument/2006/relationships/notesSlide" Target="/ppt/notesSlides/notesSlide12.xml" Id="R6d27e015b39c47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939e8106e4616" /><Relationship Type="http://schemas.openxmlformats.org/officeDocument/2006/relationships/chart" Target="/ppt/slides/charts/chart1.xml" Id="Ra48c06b333974065" /><Relationship Type="http://schemas.openxmlformats.org/officeDocument/2006/relationships/notesSlide" Target="/ppt/notesSlides/notesSlide13.xml" Id="Rd9188452fb6249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39681eff74126" /><Relationship Type="http://schemas.openxmlformats.org/officeDocument/2006/relationships/notesSlide" Target="/ppt/notesSlides/notesSlide14.xml" Id="Rf56111e1ce8440a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de61fe20b4c62" /><Relationship Type="http://schemas.openxmlformats.org/officeDocument/2006/relationships/notesSlide" Target="/ppt/notesSlides/notesSlide15.xml" Id="R7dcd93b732c14d2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2ae7c41974c54" /><Relationship Type="http://schemas.openxmlformats.org/officeDocument/2006/relationships/notesSlide" Target="/ppt/notesSlides/notesSlide16.xml" Id="R9dc0967b2d524de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3508813b14772" /><Relationship Type="http://schemas.openxmlformats.org/officeDocument/2006/relationships/notesSlide" Target="/ppt/notesSlides/notesSlide17.xml" Id="Rb51f53c72beb47b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3ad74ed2e433a" /><Relationship Type="http://schemas.openxmlformats.org/officeDocument/2006/relationships/notesSlide" Target="/ppt/notesSlides/notesSlide18.xml" Id="R34d544ccb84d47c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bf2ad1a3b4e34" /><Relationship Type="http://schemas.openxmlformats.org/officeDocument/2006/relationships/notesSlide" Target="/ppt/notesSlides/notesSlide19.xml" Id="R7268be5b0b88431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514323e584444" /><Relationship Type="http://schemas.openxmlformats.org/officeDocument/2006/relationships/notesSlide" Target="/ppt/notesSlides/notesSlide20.xml" Id="R1db33724c07c44e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2982cb3d84fee" /><Relationship Type="http://schemas.openxmlformats.org/officeDocument/2006/relationships/notesSlide" Target="/ppt/notesSlides/notesSlide21.xml" Id="Rfe9c1fc9d1bb408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4309f3f694f33" /><Relationship Type="http://schemas.openxmlformats.org/officeDocument/2006/relationships/notesSlide" Target="/ppt/notesSlides/notesSlide22.xml" Id="Ra432d22e840b4c0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147c05e554f0f" /><Relationship Type="http://schemas.openxmlformats.org/officeDocument/2006/relationships/notesSlide" Target="/ppt/notesSlides/notesSlide23.xml" Id="Ra7afa5d0e49b463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515805c8b4ee6" /><Relationship Type="http://schemas.openxmlformats.org/officeDocument/2006/relationships/notesSlide" Target="/ppt/notesSlides/notesSlide24.xml" Id="Rc920648502fa4ff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8189308ff4c24" /><Relationship Type="http://schemas.openxmlformats.org/officeDocument/2006/relationships/notesSlide" Target="/ppt/notesSlides/notesSlide25.xml" Id="Rdbc3f6b11ac8405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2cc4fdee0499c" /><Relationship Type="http://schemas.openxmlformats.org/officeDocument/2006/relationships/notesSlide" Target="/ppt/notesSlides/notesSlide26.xml" Id="Rf97c26c7f08a495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478072bf1499e" /><Relationship Type="http://schemas.openxmlformats.org/officeDocument/2006/relationships/notesSlide" Target="/ppt/notesSlides/notesSlide27.xml" Id="Rf763fb6ddddf4a8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4aea4ed294665" /><Relationship Type="http://schemas.openxmlformats.org/officeDocument/2006/relationships/notesSlide" Target="/ppt/notesSlides/notesSlide28.xml" Id="R77ce2a4a6e5344a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15f1e94964151" /><Relationship Type="http://schemas.openxmlformats.org/officeDocument/2006/relationships/notesSlide" Target="/ppt/notesSlides/notesSlide29.xml" Id="R412b37cc013f463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3e18b65954d83" /><Relationship Type="http://schemas.openxmlformats.org/officeDocument/2006/relationships/notesSlide" Target="/ppt/notesSlides/notesSlide30.xml" Id="R7efda1b1334f45f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638d5607d4601" /><Relationship Type="http://schemas.openxmlformats.org/officeDocument/2006/relationships/notesSlide" Target="/ppt/notesSlides/notesSlide31.xml" Id="R9871a3494e044c03" /></Relationships>
</file>

<file path=ppt/slides/charts/chart1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平台功能广度得分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InQuanto</c:v>
          </c:tx>
          <c:spPr>
            <a:solidFill xmlns:a="http://schemas.openxmlformats.org/drawingml/2006/main">
              <a:srgbClr val="1E2761"/>
            </a:solidFill>
          </c:spPr>
          <c:cat>
            <c:strLit>
              <c:ptCount val="4"/>
              <c:pt idx="0">
                <c:v>Workflow</c:v>
              </c:pt>
              <c:pt idx="1">
                <c:v>Algorithms</c:v>
              </c:pt>
              <c:pt idx="2">
                <c:v>MD/ML</c:v>
              </c:pt>
              <c:pt idx="3">
                <c:v>Reproducibility</c:v>
              </c:pt>
            </c:strLit>
          </c:cat>
          <c:val>
            <c:numLit>
              <c:formatCode>General</c:formatCode>
              <c:ptCount val="4"/>
              <c:pt idx="0">
                <c:v>9</c:v>
              </c:pt>
              <c:pt idx="1">
                <c:v>8</c:v>
              </c:pt>
              <c:pt idx="2">
                <c:v>4</c:v>
              </c:pt>
              <c:pt idx="3">
                <c:v>7</c:v>
              </c:pt>
            </c:numLit>
          </c:val>
        </c:ser>
        <c:ser>
          <c:idx val="1"/>
          <c:order val="1"/>
          <c:tx>
            <c:v>Our Platform</c:v>
          </c:tx>
          <c:spPr>
            <a:solidFill xmlns:a="http://schemas.openxmlformats.org/drawingml/2006/main">
              <a:srgbClr val="CADCFC"/>
            </a:solidFill>
          </c:spPr>
          <c:cat>
            <c:strLit>
              <c:ptCount val="4"/>
              <c:pt idx="0">
                <c:v>Workflow</c:v>
              </c:pt>
              <c:pt idx="1">
                <c:v>Algorithms</c:v>
              </c:pt>
              <c:pt idx="2">
                <c:v>MD/ML</c:v>
              </c:pt>
              <c:pt idx="3">
                <c:v>Reproducibility</c:v>
              </c:pt>
            </c:strLit>
          </c:cat>
          <c:val>
            <c:numLit>
              <c:formatCode>General</c:formatCode>
              <c:ptCount val="4"/>
              <c:pt idx="0">
                <c:v>8</c:v>
              </c:pt>
              <c:pt idx="1">
                <c:v>9</c:v>
              </c:pt>
              <c:pt idx="2">
                <c:v>8</c:v>
              </c:pt>
              <c:pt idx="3">
                <c:v>8</c:v>
              </c:pt>
            </c:numLit>
          </c:val>
        </c:ser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" name="TextBox 1"/>
          <p:cNvSpPr/>
          <p:nvPr/>
        </p:nvSpPr>
        <p:spPr>
          <a:xfrm xmlns:a="http://schemas.openxmlformats.org/drawingml/2006/main">
            <a:off x="720000" y="2520000"/>
            <a:ext cx="107532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Georgia"/>
                <a:ea typeface="Georgia"/>
              </a:rPr>
              <a:t>量子计算化学与平台架构进展汇报</a:t>
            </a:r>
          </a:p>
        </p:txBody>
      </p:sp>
      <p:sp>
        <p:nvSpPr>
          <p:cNvPr id="10001" name="TextBox 2"/>
          <p:cNvSpPr/>
          <p:nvPr/>
        </p:nvSpPr>
        <p:spPr>
          <a:xfrm xmlns:a="http://schemas.openxmlformats.org/drawingml/2006/main">
            <a:off x="720000" y="3960000"/>
            <a:ext cx="107532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CADCFC"/>
                </a:solidFill>
                <a:latin typeface="Calibri"/>
                <a:ea typeface="Calibri"/>
              </a:rPr>
              <a:t>构建开源、可审计、产品化的量子计算化学工作流平台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2" name="TextBox 1"/>
          <p:cNvSpPr/>
          <p:nvPr/>
        </p:nvSpPr>
        <p:spPr>
          <a:xfrm xmlns:a="http://schemas.openxmlformats.org/drawingml/2006/main">
            <a:off x="720000" y="720000"/>
            <a:ext cx="10753200" cy="54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5000" b="1">
                <a:solidFill>
                  <a:srgbClr val="FFFFFF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10003" name="TextBox 2"/>
          <p:cNvSpPr/>
          <p:nvPr/>
        </p:nvSpPr>
        <p:spPr>
          <a:xfrm xmlns:a="http://schemas.openxmlformats.org/drawingml/2006/main">
            <a:off x="720000" y="2880000"/>
            <a:ext cx="107532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Georgia"/>
                <a:ea typeface="Georgia"/>
              </a:rPr>
              <a:t>为什么作为硬件公司要做本工程？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硬件公司的破局点</a:t>
            </a:r>
          </a:p>
        </p:txBody>
      </p:sp>
      <p:sp>
        <p:nvSpPr>
          <p:cNvPr id="10005" name="TextBox 2"/>
          <p:cNvSpPr/>
          <p:nvPr/>
        </p:nvSpPr>
        <p:spPr>
          <a:xfrm xmlns:a="http://schemas.openxmlformats.org/drawingml/2006/main">
            <a:off x="540000" y="126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纯做硬件缺乏应用层闭环，难以直接输出价值</a:t>
            </a:r>
          </a:p>
        </p:txBody>
      </p:sp>
      <p:sp>
        <p:nvSpPr>
          <p:cNvPr id="10006" name="TextBox 3"/>
          <p:cNvSpPr/>
          <p:nvPr/>
        </p:nvSpPr>
        <p:spPr>
          <a:xfrm xmlns:a="http://schemas.openxmlformats.org/drawingml/2006/main">
            <a:off x="540000" y="198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商业对手(如Quantinuum)正在通过全栈产品锁定用户</a:t>
            </a:r>
          </a:p>
        </p:txBody>
      </p:sp>
      <p:sp>
        <p:nvSpPr>
          <p:cNvPr id="10007" name="TextBox 4"/>
          <p:cNvSpPr/>
          <p:nvPr/>
        </p:nvSpPr>
        <p:spPr>
          <a:xfrm xmlns:a="http://schemas.openxmlformats.org/drawingml/2006/main">
            <a:off x="540000" y="270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我们需要一个对接算力与真实化学场景的桥梁</a:t>
            </a:r>
          </a:p>
        </p:txBody>
      </p:sp>
      <p:sp>
        <p:nvSpPr>
          <p:cNvPr id="10008" name="TextBox 5"/>
          <p:cNvSpPr/>
          <p:nvPr/>
        </p:nvSpPr>
        <p:spPr>
          <a:xfrm xmlns:a="http://schemas.openxmlformats.org/drawingml/2006/main">
            <a:off x="540000" y="342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让量子优势在材料、药物研发中可见可检证</a:t>
            </a:r>
          </a:p>
        </p:txBody>
      </p:sp>
      <p:sp>
        <p:nvSpPr>
          <p:cNvPr id="10009" name="TextBox 6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10" name="TextBox 7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核心逻辑</a:t>
            </a:r>
          </a:p>
        </p:txBody>
      </p:sp>
      <p:sp>
        <p:nvSpPr>
          <p:cNvPr id="10011" name="TextBox 8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只有掌握从化学输入到量子编译的完整编排层，才能最大化底层硬件的差异化优势，同时引入经典计算和ML/MD生态。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2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硬件与应用双轮驱动</a:t>
            </a:r>
          </a:p>
        </p:txBody>
      </p:sp>
      <p:sp>
        <p:nvSpPr>
          <p:cNvPr id="10013" name="TextBox 2"/>
          <p:cNvSpPr/>
          <p:nvPr/>
        </p:nvSpPr>
        <p:spPr>
          <a:xfrm xmlns:a="http://schemas.openxmlformats.org/drawingml/2006/main">
            <a:off x="5400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14" name="TextBox 3"/>
          <p:cNvSpPr/>
          <p:nvPr/>
        </p:nvSpPr>
        <p:spPr>
          <a:xfrm xmlns:a="http://schemas.openxmlformats.org/drawingml/2006/main">
            <a:off x="612000" y="1620000"/>
            <a:ext cx="33204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硬件层面</a:t>
            </a:r>
          </a:p>
        </p:txBody>
      </p:sp>
      <p:sp>
        <p:nvSpPr>
          <p:cNvPr id="10015" name="TextBox 4"/>
          <p:cNvSpPr/>
          <p:nvPr/>
        </p:nvSpPr>
        <p:spPr>
          <a:xfrm xmlns:a="http://schemas.openxmlformats.org/drawingml/2006/main">
            <a:off x="6120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提供高保真度、大规模式的量子算力，但用户不会直接写量子门</a:t>
            </a:r>
          </a:p>
        </p:txBody>
      </p:sp>
      <p:sp>
        <p:nvSpPr>
          <p:cNvPr id="10016" name="TextBox 5"/>
          <p:cNvSpPr/>
          <p:nvPr/>
        </p:nvSpPr>
        <p:spPr>
          <a:xfrm xmlns:a="http://schemas.openxmlformats.org/drawingml/2006/main">
            <a:off x="43644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ADCF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17" name="TextBox 6"/>
          <p:cNvSpPr/>
          <p:nvPr/>
        </p:nvSpPr>
        <p:spPr>
          <a:xfrm xmlns:a="http://schemas.openxmlformats.org/drawingml/2006/main">
            <a:off x="4436400" y="1620000"/>
            <a:ext cx="33204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软件编排</a:t>
            </a:r>
          </a:p>
        </p:txBody>
      </p:sp>
      <p:sp>
        <p:nvSpPr>
          <p:cNvPr id="10018" name="TextBox 7"/>
          <p:cNvSpPr/>
          <p:nvPr/>
        </p:nvSpPr>
        <p:spPr>
          <a:xfrm xmlns:a="http://schemas.openxmlformats.org/drawingml/2006/main">
            <a:off x="44364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需要通过产品化的Workflow，把化学家的语言自动翻译为硬件任务</a:t>
            </a:r>
          </a:p>
        </p:txBody>
      </p:sp>
      <p:sp>
        <p:nvSpPr>
          <p:cNvPr id="10019" name="TextBox 8"/>
          <p:cNvSpPr/>
          <p:nvPr/>
        </p:nvSpPr>
        <p:spPr>
          <a:xfrm xmlns:a="http://schemas.openxmlformats.org/drawingml/2006/main">
            <a:off x="81888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20" name="TextBox 9"/>
          <p:cNvSpPr/>
          <p:nvPr/>
        </p:nvSpPr>
        <p:spPr>
          <a:xfrm xmlns:a="http://schemas.openxmlformats.org/drawingml/2006/main">
            <a:off x="8260800" y="1620000"/>
            <a:ext cx="33204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商业壁垒</a:t>
            </a:r>
          </a:p>
        </p:txBody>
      </p:sp>
      <p:sp>
        <p:nvSpPr>
          <p:cNvPr id="10021" name="TextBox 10"/>
          <p:cNvSpPr/>
          <p:nvPr/>
        </p:nvSpPr>
        <p:spPr>
          <a:xfrm xmlns:a="http://schemas.openxmlformats.org/drawingml/2006/main">
            <a:off x="82608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拥有自己的QChem平台，可直接面向制药/材料客户提供端到端解决方案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22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构建开源工作流平台的战略价值</a:t>
            </a:r>
          </a:p>
        </p:txBody>
      </p:sp>
      <p:sp>
        <p:nvSpPr>
          <p:cNvPr id="10023" name="TextBox 2"/>
          <p:cNvSpPr/>
          <p:nvPr/>
        </p:nvSpPr>
        <p:spPr>
          <a:xfrm xmlns:a="http://schemas.openxmlformats.org/drawingml/2006/main">
            <a:off x="540000" y="126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不再受制于第三方商业平台的生态锁定</a:t>
            </a:r>
          </a:p>
        </p:txBody>
      </p:sp>
      <p:sp>
        <p:nvSpPr>
          <p:cNvPr id="10024" name="TextBox 3"/>
          <p:cNvSpPr/>
          <p:nvPr/>
        </p:nvSpPr>
        <p:spPr>
          <a:xfrm xmlns:a="http://schemas.openxmlformats.org/drawingml/2006/main">
            <a:off x="540000" y="198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能够更灵活地插入我们自研的算法和编译优化(如张量网络)</a:t>
            </a:r>
          </a:p>
        </p:txBody>
      </p:sp>
      <p:sp>
        <p:nvSpPr>
          <p:cNvPr id="10025" name="TextBox 4"/>
          <p:cNvSpPr/>
          <p:nvPr/>
        </p:nvSpPr>
        <p:spPr>
          <a:xfrm xmlns:a="http://schemas.openxmlformats.org/drawingml/2006/main">
            <a:off x="540000" y="270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与MD(分子动力学)和ML生态深度融合</a:t>
            </a:r>
          </a:p>
        </p:txBody>
      </p:sp>
      <p:sp>
        <p:nvSpPr>
          <p:cNvPr id="10026" name="TextBox 5"/>
          <p:cNvSpPr/>
          <p:nvPr/>
        </p:nvSpPr>
        <p:spPr>
          <a:xfrm xmlns:a="http://schemas.openxmlformats.org/drawingml/2006/main">
            <a:off x="540000" y="342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通过开源(Apache-2.0)吸引全球学术和产业用户共同完善模型</a:t>
            </a:r>
          </a:p>
        </p:txBody>
      </p:sp>
      <p:sp>
        <p:nvSpPr>
          <p:cNvPr id="10027" name="TextBox 6"/>
          <p:cNvSpPr/>
          <p:nvPr/>
        </p:nvSpPr>
        <p:spPr>
          <a:xfrm xmlns:a="http://schemas.openxmlformats.org/drawingml/2006/main">
            <a:off x="5940000" y="1260000"/>
            <a:ext cx="1728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28" name="TextBox 7"/>
          <p:cNvSpPr/>
          <p:nvPr/>
        </p:nvSpPr>
        <p:spPr>
          <a:xfrm xmlns:a="http://schemas.openxmlformats.org/drawingml/2006/main">
            <a:off x="6012000" y="1440000"/>
            <a:ext cx="1584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开源</a:t>
            </a:r>
          </a:p>
        </p:txBody>
      </p:sp>
      <p:sp>
        <p:nvSpPr>
          <p:cNvPr id="10029" name="TextBox 8"/>
          <p:cNvSpPr/>
          <p:nvPr/>
        </p:nvSpPr>
        <p:spPr>
          <a:xfrm xmlns:a="http://schemas.openxmlformats.org/drawingml/2006/main">
            <a:off x="6012000" y="216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CADCFC"/>
                </a:solidFill>
                <a:latin typeface="Georgia"/>
                <a:ea typeface="Georgia"/>
              </a:rPr>
              <a:t>生态</a:t>
            </a:r>
          </a:p>
        </p:txBody>
      </p:sp>
      <p:sp>
        <p:nvSpPr>
          <p:cNvPr id="10030" name="TextBox 9"/>
          <p:cNvSpPr/>
          <p:nvPr/>
        </p:nvSpPr>
        <p:spPr>
          <a:xfrm xmlns:a="http://schemas.openxmlformats.org/drawingml/2006/main">
            <a:off x="6012000" y="360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全球开发者共建</a:t>
            </a:r>
          </a:p>
        </p:txBody>
      </p:sp>
      <p:sp>
        <p:nvSpPr>
          <p:cNvPr id="10031" name="TextBox 10"/>
          <p:cNvSpPr/>
          <p:nvPr/>
        </p:nvSpPr>
        <p:spPr>
          <a:xfrm xmlns:a="http://schemas.openxmlformats.org/drawingml/2006/main">
            <a:off x="7812000" y="1260000"/>
            <a:ext cx="1728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32" name="TextBox 11"/>
          <p:cNvSpPr/>
          <p:nvPr/>
        </p:nvSpPr>
        <p:spPr>
          <a:xfrm xmlns:a="http://schemas.openxmlformats.org/drawingml/2006/main">
            <a:off x="7884000" y="1440000"/>
            <a:ext cx="1584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审计</a:t>
            </a:r>
          </a:p>
        </p:txBody>
      </p:sp>
      <p:sp>
        <p:nvSpPr>
          <p:cNvPr id="10033" name="TextBox 12"/>
          <p:cNvSpPr/>
          <p:nvPr/>
        </p:nvSpPr>
        <p:spPr>
          <a:xfrm xmlns:a="http://schemas.openxmlformats.org/drawingml/2006/main">
            <a:off x="7884000" y="216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CADCFC"/>
                </a:solidFill>
                <a:latin typeface="Georgia"/>
                <a:ea typeface="Georgia"/>
              </a:rPr>
              <a:t>可信</a:t>
            </a:r>
          </a:p>
        </p:txBody>
      </p:sp>
      <p:sp>
        <p:nvSpPr>
          <p:cNvPr id="10034" name="TextBox 13"/>
          <p:cNvSpPr/>
          <p:nvPr/>
        </p:nvSpPr>
        <p:spPr>
          <a:xfrm xmlns:a="http://schemas.openxmlformats.org/drawingml/2006/main">
            <a:off x="7884000" y="360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Methods直接发论文</a:t>
            </a:r>
          </a:p>
        </p:txBody>
      </p:sp>
      <p:sp>
        <p:nvSpPr>
          <p:cNvPr id="10035" name="TextBox 14"/>
          <p:cNvSpPr/>
          <p:nvPr/>
        </p:nvSpPr>
        <p:spPr>
          <a:xfrm xmlns:a="http://schemas.openxmlformats.org/drawingml/2006/main">
            <a:off x="9684000" y="1260000"/>
            <a:ext cx="1728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36" name="TextBox 15"/>
          <p:cNvSpPr/>
          <p:nvPr/>
        </p:nvSpPr>
        <p:spPr>
          <a:xfrm xmlns:a="http://schemas.openxmlformats.org/drawingml/2006/main">
            <a:off x="9756000" y="1440000"/>
            <a:ext cx="1584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MD/ML</a:t>
            </a:r>
          </a:p>
        </p:txBody>
      </p:sp>
      <p:sp>
        <p:nvSpPr>
          <p:cNvPr id="10037" name="TextBox 16"/>
          <p:cNvSpPr/>
          <p:nvPr/>
        </p:nvSpPr>
        <p:spPr>
          <a:xfrm xmlns:a="http://schemas.openxmlformats.org/drawingml/2006/main">
            <a:off x="9756000" y="216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CADCFC"/>
                </a:solidFill>
                <a:latin typeface="Georgia"/>
                <a:ea typeface="Georgia"/>
              </a:rPr>
              <a:t>融合</a:t>
            </a:r>
          </a:p>
        </p:txBody>
      </p:sp>
      <p:sp>
        <p:nvSpPr>
          <p:cNvPr id="10038" name="TextBox 17"/>
          <p:cNvSpPr/>
          <p:nvPr/>
        </p:nvSpPr>
        <p:spPr>
          <a:xfrm xmlns:a="http://schemas.openxmlformats.org/drawingml/2006/main">
            <a:off x="9756000" y="360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差异化竞争点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39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为什么不能直接用已有的开源工具？</a:t>
            </a:r>
          </a:p>
        </p:txBody>
      </p:sp>
      <p:sp>
        <p:nvSpPr>
          <p:cNvPr id="10040" name="TextBox 2"/>
          <p:cNvSpPr/>
          <p:nvPr/>
        </p:nvSpPr>
        <p:spPr>
          <a:xfrm xmlns:a="http://schemas.openxmlformats.org/drawingml/2006/main">
            <a:off x="540000" y="126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现有工具(如Tangelo)多为散装脚本，缺乏产品化体验</a:t>
            </a:r>
          </a:p>
        </p:txBody>
      </p:sp>
      <p:sp>
        <p:nvSpPr>
          <p:cNvPr id="10041" name="TextBox 3"/>
          <p:cNvSpPr/>
          <p:nvPr/>
        </p:nvSpPr>
        <p:spPr>
          <a:xfrm xmlns:a="http://schemas.openxmlformats.org/drawingml/2006/main">
            <a:off x="540000" y="198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无法实现复杂任务的标准化审计(Repro / Parity)</a:t>
            </a:r>
          </a:p>
        </p:txBody>
      </p:sp>
      <p:sp>
        <p:nvSpPr>
          <p:cNvPr id="10042" name="TextBox 4"/>
          <p:cNvSpPr/>
          <p:nvPr/>
        </p:nvSpPr>
        <p:spPr>
          <a:xfrm xmlns:a="http://schemas.openxmlformats.org/drawingml/2006/main">
            <a:off x="540000" y="270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在作业队列、容错调度、大体系下折叠等企业级特性上存在短板</a:t>
            </a:r>
          </a:p>
        </p:txBody>
      </p:sp>
      <p:sp>
        <p:nvSpPr>
          <p:cNvPr id="10043" name="TextBox 5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44" name="TextBox 6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结论</a:t>
            </a:r>
          </a:p>
        </p:txBody>
      </p:sp>
      <p:sp>
        <p:nvSpPr>
          <p:cNvPr id="10045" name="TextBox 7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我们需要一个带有工业级纪律的架构，而不仅是一个研究用的工具箱。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46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我们的定位</a:t>
            </a:r>
          </a:p>
        </p:txBody>
      </p:sp>
      <p:sp>
        <p:nvSpPr>
          <p:cNvPr id="10047" name="TextBox 2"/>
          <p:cNvSpPr/>
          <p:nvPr/>
        </p:nvSpPr>
        <p:spPr>
          <a:xfrm xmlns:a="http://schemas.openxmlformats.org/drawingml/2006/main">
            <a:off x="540000" y="126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不照搬闭源逻辑，不做散装工具箱</a:t>
            </a:r>
          </a:p>
        </p:txBody>
      </p:sp>
      <p:sp>
        <p:nvSpPr>
          <p:cNvPr id="10048" name="TextBox 3"/>
          <p:cNvSpPr/>
          <p:nvPr/>
        </p:nvSpPr>
        <p:spPr>
          <a:xfrm xmlns:a="http://schemas.openxmlformats.org/drawingml/2006/main">
            <a:off x="540000" y="198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定位：开源、可审计、可写进论文Methods的计算化学编排平台</a:t>
            </a:r>
          </a:p>
        </p:txBody>
      </p:sp>
      <p:sp>
        <p:nvSpPr>
          <p:cNvPr id="10049" name="TextBox 4"/>
          <p:cNvSpPr/>
          <p:nvPr/>
        </p:nvSpPr>
        <p:spPr>
          <a:xfrm xmlns:a="http://schemas.openxmlformats.org/drawingml/2006/main">
            <a:off x="540000" y="270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融合InQuanto的工作流纪律与Tangelo的算法广度</a:t>
            </a:r>
          </a:p>
        </p:txBody>
      </p:sp>
      <p:sp>
        <p:nvSpPr>
          <p:cNvPr id="10050" name="TextBox 5"/>
          <p:cNvSpPr/>
          <p:nvPr/>
        </p:nvSpPr>
        <p:spPr>
          <a:xfrm xmlns:a="http://schemas.openxmlformats.org/drawingml/2006/main">
            <a:off x="540000" y="342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打造我们特有的MD/ML延伸能力</a:t>
            </a:r>
          </a:p>
        </p:txBody>
      </p:sp>
      <p:sp>
        <p:nvSpPr>
          <p:cNvPr id="10051" name="TextBox 6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52" name="TextBox 7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愿景</a:t>
            </a:r>
          </a:p>
        </p:txBody>
      </p:sp>
      <p:sp>
        <p:nvSpPr>
          <p:cNvPr id="10053" name="TextBox 8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成为量子化学研究和工业应用的首选开放平台。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54" name="TextBox 1"/>
          <p:cNvSpPr/>
          <p:nvPr/>
        </p:nvSpPr>
        <p:spPr>
          <a:xfrm xmlns:a="http://schemas.openxmlformats.org/drawingml/2006/main">
            <a:off x="720000" y="720000"/>
            <a:ext cx="10753200" cy="54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5000" b="1">
                <a:solidFill>
                  <a:srgbClr val="FFFFFF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0055" name="TextBox 2"/>
          <p:cNvSpPr/>
          <p:nvPr/>
        </p:nvSpPr>
        <p:spPr>
          <a:xfrm xmlns:a="http://schemas.openxmlformats.org/drawingml/2006/main">
            <a:off x="720000" y="2880000"/>
            <a:ext cx="107532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Georgia"/>
                <a:ea typeface="Georgia"/>
              </a:rPr>
              <a:t>竞品分析：InQuanto 与 Tangelo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56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InQuanto：商业平台标杆</a:t>
            </a:r>
          </a:p>
        </p:txBody>
      </p:sp>
      <p:sp>
        <p:nvSpPr>
          <p:cNvPr id="10057" name="TextBox 2"/>
          <p:cNvSpPr/>
          <p:nvPr/>
        </p:nvSpPr>
        <p:spPr>
          <a:xfrm xmlns:a="http://schemas.openxmlformats.org/drawingml/2006/main">
            <a:off x="5400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58" name="TextBox 3"/>
          <p:cNvSpPr/>
          <p:nvPr/>
        </p:nvSpPr>
        <p:spPr>
          <a:xfrm xmlns:a="http://schemas.openxmlformats.org/drawingml/2006/main">
            <a:off x="612000" y="1620000"/>
            <a:ext cx="33204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特点</a:t>
            </a:r>
          </a:p>
        </p:txBody>
      </p:sp>
      <p:sp>
        <p:nvSpPr>
          <p:cNvPr id="10059" name="TextBox 4"/>
          <p:cNvSpPr/>
          <p:nvPr/>
        </p:nvSpPr>
        <p:spPr>
          <a:xfrm xmlns:a="http://schemas.openxmlformats.org/drawingml/2006/main">
            <a:off x="6120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深度绑定Quantinuum生态(TKET, Nexus, H-Series)</a:t>
            </a:r>
          </a:p>
        </p:txBody>
      </p:sp>
      <p:sp>
        <p:nvSpPr>
          <p:cNvPr id="10060" name="TextBox 5"/>
          <p:cNvSpPr/>
          <p:nvPr/>
        </p:nvSpPr>
        <p:spPr>
          <a:xfrm xmlns:a="http://schemas.openxmlformats.org/drawingml/2006/main">
            <a:off x="43644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61" name="TextBox 6"/>
          <p:cNvSpPr/>
          <p:nvPr/>
        </p:nvSpPr>
        <p:spPr>
          <a:xfrm xmlns:a="http://schemas.openxmlformats.org/drawingml/2006/main">
            <a:off x="4436400" y="1620000"/>
            <a:ext cx="33204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优势</a:t>
            </a:r>
          </a:p>
        </p:txBody>
      </p:sp>
      <p:sp>
        <p:nvSpPr>
          <p:cNvPr id="10062" name="TextBox 7"/>
          <p:cNvSpPr/>
          <p:nvPr/>
        </p:nvSpPr>
        <p:spPr>
          <a:xfrm xmlns:a="http://schemas.openxmlformats.org/drawingml/2006/main">
            <a:off x="44364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产品叙事完整，拥有极强的Protocol和Job对象模型</a:t>
            </a:r>
          </a:p>
        </p:txBody>
      </p:sp>
      <p:sp>
        <p:nvSpPr>
          <p:cNvPr id="10063" name="TextBox 8"/>
          <p:cNvSpPr/>
          <p:nvPr/>
        </p:nvSpPr>
        <p:spPr>
          <a:xfrm xmlns:a="http://schemas.openxmlformats.org/drawingml/2006/main">
            <a:off x="81888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64" name="TextBox 9"/>
          <p:cNvSpPr/>
          <p:nvPr/>
        </p:nvSpPr>
        <p:spPr>
          <a:xfrm xmlns:a="http://schemas.openxmlformats.org/drawingml/2006/main">
            <a:off x="8260800" y="1620000"/>
            <a:ext cx="33204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劣势</a:t>
            </a:r>
          </a:p>
        </p:txBody>
      </p:sp>
      <p:sp>
        <p:nvSpPr>
          <p:cNvPr id="10065" name="TextBox 10"/>
          <p:cNvSpPr/>
          <p:nvPr/>
        </p:nvSpPr>
        <p:spPr>
          <a:xfrm xmlns:a="http://schemas.openxmlformats.org/drawingml/2006/main">
            <a:off x="82608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闭源、厂商锁定严重，外界无法完全检证其底层启发式细节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66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InQuanto 工作流原理</a:t>
            </a:r>
          </a:p>
        </p:txBody>
      </p:sp>
      <p:sp>
        <p:nvSpPr>
          <p:cNvPr id="10067" name="TextBox 2"/>
          <p:cNvSpPr/>
          <p:nvPr/>
        </p:nvSpPr>
        <p:spPr>
          <a:xfrm xmlns:a="http://schemas.openxmlformats.org/drawingml/2006/main">
            <a:off x="540000" y="126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从化学输入(PySCF)出发，定义Active Space</a:t>
            </a:r>
          </a:p>
        </p:txBody>
      </p:sp>
      <p:sp>
        <p:nvSpPr>
          <p:cNvPr id="10069" name="TextBox 4"/>
          <p:cNvSpPr/>
          <p:nvPr/>
        </p:nvSpPr>
        <p:spPr>
          <a:xfrm xmlns:a="http://schemas.openxmlformats.org/drawingml/2006/main">
            <a:off x="540000" y="270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通过Computable和Protocol构建量子作业</a:t>
            </a:r>
          </a:p>
        </p:txBody>
      </p:sp>
      <p:sp>
        <p:nvSpPr>
          <p:cNvPr id="10070" name="TextBox 5"/>
          <p:cNvSpPr/>
          <p:nvPr/>
        </p:nvSpPr>
        <p:spPr>
          <a:xfrm xmlns:a="http://schemas.openxmlformats.org/drawingml/2006/main">
            <a:off x="540000" y="342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提交到云端(Nexus)执行并回收资源报告</a:t>
            </a:r>
          </a:p>
        </p:txBody>
      </p:sp>
      <p:sp>
        <p:nvSpPr>
          <p:cNvPr id="10071" name="TextBox 6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72" name="TextBox 7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核心思想</a:t>
            </a:r>
          </a:p>
        </p:txBody>
      </p:sp>
      <p:sp>
        <p:nvSpPr>
          <p:cNvPr id="10073" name="TextBox 8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一切皆对象。定义好分子、算法、协议后，形成稳定的计算流。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74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Tangelo：开源工具箱</a:t>
            </a:r>
          </a:p>
        </p:txBody>
      </p:sp>
      <p:sp>
        <p:nvSpPr>
          <p:cNvPr id="10075" name="TextBox 2"/>
          <p:cNvSpPr/>
          <p:nvPr/>
        </p:nvSpPr>
        <p:spPr>
          <a:xfrm xmlns:a="http://schemas.openxmlformats.org/drawingml/2006/main">
            <a:off x="5400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76" name="TextBox 3"/>
          <p:cNvSpPr/>
          <p:nvPr/>
        </p:nvSpPr>
        <p:spPr>
          <a:xfrm xmlns:a="http://schemas.openxmlformats.org/drawingml/2006/main">
            <a:off x="612000" y="1620000"/>
            <a:ext cx="33204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特点</a:t>
            </a:r>
          </a:p>
        </p:txBody>
      </p:sp>
      <p:sp>
        <p:nvSpPr>
          <p:cNvPr id="10077" name="TextBox 4"/>
          <p:cNvSpPr/>
          <p:nvPr/>
        </p:nvSpPr>
        <p:spPr>
          <a:xfrm xmlns:a="http://schemas.openxmlformats.org/drawingml/2006/main">
            <a:off x="6120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SandboxAQ开源的端到端工具包，重研究与教程</a:t>
            </a:r>
          </a:p>
        </p:txBody>
      </p:sp>
      <p:sp>
        <p:nvSpPr>
          <p:cNvPr id="10078" name="TextBox 5"/>
          <p:cNvSpPr/>
          <p:nvPr/>
        </p:nvSpPr>
        <p:spPr>
          <a:xfrm xmlns:a="http://schemas.openxmlformats.org/drawingml/2006/main">
            <a:off x="43644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79" name="TextBox 6"/>
          <p:cNvSpPr/>
          <p:nvPr/>
        </p:nvSpPr>
        <p:spPr>
          <a:xfrm xmlns:a="http://schemas.openxmlformats.org/drawingml/2006/main">
            <a:off x="4436400" y="1620000"/>
            <a:ext cx="33204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优势</a:t>
            </a:r>
          </a:p>
        </p:txBody>
      </p:sp>
      <p:sp>
        <p:nvSpPr>
          <p:cNvPr id="10080" name="TextBox 7"/>
          <p:cNvSpPr/>
          <p:nvPr/>
        </p:nvSpPr>
        <p:spPr>
          <a:xfrm xmlns:a="http://schemas.openxmlformats.org/drawingml/2006/main">
            <a:off x="44364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算法极多，支持大量Ansatz、后端(Qiskit/Cirq等)，生态丰富</a:t>
            </a:r>
          </a:p>
        </p:txBody>
      </p:sp>
      <p:sp>
        <p:nvSpPr>
          <p:cNvPr id="10081" name="TextBox 8"/>
          <p:cNvSpPr/>
          <p:nvPr/>
        </p:nvSpPr>
        <p:spPr>
          <a:xfrm xmlns:a="http://schemas.openxmlformats.org/drawingml/2006/main">
            <a:off x="81888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82" name="TextBox 9"/>
          <p:cNvSpPr/>
          <p:nvPr/>
        </p:nvSpPr>
        <p:spPr>
          <a:xfrm xmlns:a="http://schemas.openxmlformats.org/drawingml/2006/main">
            <a:off x="8260800" y="1620000"/>
            <a:ext cx="33204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劣势</a:t>
            </a:r>
          </a:p>
        </p:txBody>
      </p:sp>
      <p:sp>
        <p:nvSpPr>
          <p:cNvPr id="10083" name="TextBox 10"/>
          <p:cNvSpPr/>
          <p:nvPr/>
        </p:nvSpPr>
        <p:spPr>
          <a:xfrm xmlns:a="http://schemas.openxmlformats.org/drawingml/2006/main">
            <a:off x="82608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统一契约较弱，像散装脚本，缺乏企业级作业管控和严谨输出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84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Tangelo 工作流原理</a:t>
            </a:r>
          </a:p>
        </p:txBody>
      </p:sp>
      <p:sp>
        <p:nvSpPr>
          <p:cNvPr id="10085" name="TextBox 2"/>
          <p:cNvSpPr/>
          <p:nvPr/>
        </p:nvSpPr>
        <p:spPr>
          <a:xfrm xmlns:a="http://schemas.openxmlformats.org/drawingml/2006/main">
            <a:off x="540000" y="126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定义SecondQuantizedMolecule</a:t>
            </a:r>
          </a:p>
        </p:txBody>
      </p:sp>
      <p:sp>
        <p:nvSpPr>
          <p:cNvPr id="10086" name="TextBox 3"/>
          <p:cNvSpPr/>
          <p:nvPr/>
        </p:nvSpPr>
        <p:spPr>
          <a:xfrm xmlns:a="http://schemas.openxmlformats.org/drawingml/2006/main">
            <a:off x="540000" y="198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选取Solver(如VQESolver, ADAPTSolver)</a:t>
            </a:r>
          </a:p>
        </p:txBody>
      </p:sp>
      <p:sp>
        <p:nvSpPr>
          <p:cNvPr id="10087" name="TextBox 4"/>
          <p:cNvSpPr/>
          <p:nvPr/>
        </p:nvSpPr>
        <p:spPr>
          <a:xfrm xmlns:a="http://schemas.openxmlformats.org/drawingml/2006/main">
            <a:off x="540000" y="270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指定Backend执行运算</a:t>
            </a:r>
          </a:p>
        </p:txBody>
      </p:sp>
      <p:sp>
        <p:nvSpPr>
          <p:cNvPr id="10088" name="TextBox 5"/>
          <p:cNvSpPr/>
          <p:nvPr/>
        </p:nvSpPr>
        <p:spPr>
          <a:xfrm xmlns:a="http://schemas.openxmlformats.org/drawingml/2006/main">
            <a:off x="540000" y="342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获取能量与态信息</a:t>
            </a:r>
          </a:p>
        </p:txBody>
      </p:sp>
      <p:sp>
        <p:nvSpPr>
          <p:cNvPr id="10089" name="TextBox 6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90" name="TextBox 7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流程特点</a:t>
            </a:r>
          </a:p>
        </p:txBody>
      </p:sp>
      <p:sp>
        <p:nvSpPr>
          <p:cNvPr id="10091" name="TextBox 8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流程直白，方便二次开发，但各个模块间的接口没有被严格的对象模型(如Protocol)保护，复现性较弱。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c="http://schemas.openxmlformats.org/drawingml/2006/chart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92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功能覆盖率对比(示意)</a:t>
            </a:r>
          </a:p>
        </p:txBody>
      </p:sp>
      <p:graphicFrame>
        <p:nvGraphicFramePr>
          <p:cNvPr id="10093" name="平台功能广度得分"/>
          <p:cNvGraphicFramePr/>
          <p:nvPr/>
        </p:nvGraphicFramePr>
        <p:xfrm>
          <a:off xmlns:a="http://schemas.openxmlformats.org/drawingml/2006/main" x="540000" y="1260000"/>
          <a:ext xmlns:a="http://schemas.openxmlformats.org/drawingml/2006/main" cx="7200000" cy="504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8c06b333974065"/>
          </a:graphicData>
        </a:graphic>
      </p:graphicFrame>
      <p:sp>
        <p:nvSpPr>
          <p:cNvPr id="10094" name="TextBox 2"/>
          <p:cNvSpPr/>
          <p:nvPr/>
        </p:nvSpPr>
        <p:spPr>
          <a:xfrm xmlns:a="http://schemas.openxmlformats.org/drawingml/2006/main">
            <a:off x="8100000" y="1260000"/>
            <a:ext cx="3528000" cy="50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95" name="TextBox 3"/>
          <p:cNvSpPr/>
          <p:nvPr/>
        </p:nvSpPr>
        <p:spPr>
          <a:xfrm xmlns:a="http://schemas.openxmlformats.org/drawingml/2006/main">
            <a:off x="8280000" y="1440000"/>
            <a:ext cx="32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1E2761"/>
                </a:solidFill>
                <a:latin typeface="Georgia"/>
                <a:ea typeface="Georgia"/>
              </a:rPr>
              <a:t>Insight</a:t>
            </a:r>
          </a:p>
        </p:txBody>
      </p:sp>
      <p:sp>
        <p:nvSpPr>
          <p:cNvPr id="10096" name="TextBox 4"/>
          <p:cNvSpPr/>
          <p:nvPr/>
        </p:nvSpPr>
        <p:spPr>
          <a:xfrm xmlns:a="http://schemas.openxmlformats.org/drawingml/2006/main">
            <a:off x="8280000" y="1980000"/>
            <a:ext cx="3240000" cy="39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Calibri"/>
                <a:ea typeface="Calibri"/>
              </a:rPr>
              <a:t>InQuanto在工作流占优，但MD/ML缺乏；我们将在MD/ML及复现性上超越。</a:t>
            </a: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97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竞品分析总结</a:t>
            </a:r>
          </a:p>
        </p:txBody>
      </p:sp>
      <p:sp>
        <p:nvSpPr>
          <p:cNvPr id="10098" name="TextBox 2"/>
          <p:cNvSpPr/>
          <p:nvPr/>
        </p:nvSpPr>
        <p:spPr>
          <a:xfrm xmlns:a="http://schemas.openxmlformats.org/drawingml/2006/main">
            <a:off x="540000" y="126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InQuanto强在工程与产品体验(对象化，报告化)</a:t>
            </a:r>
          </a:p>
        </p:txBody>
      </p:sp>
      <p:sp>
        <p:nvSpPr>
          <p:cNvPr id="10099" name="TextBox 3"/>
          <p:cNvSpPr/>
          <p:nvPr/>
        </p:nvSpPr>
        <p:spPr>
          <a:xfrm xmlns:a="http://schemas.openxmlformats.org/drawingml/2006/main">
            <a:off x="540000" y="198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Tangelo强在算法广度和自由度</a:t>
            </a:r>
          </a:p>
        </p:txBody>
      </p:sp>
      <p:sp>
        <p:nvSpPr>
          <p:cNvPr id="10100" name="TextBox 4"/>
          <p:cNvSpPr/>
          <p:nvPr/>
        </p:nvSpPr>
        <p:spPr>
          <a:xfrm xmlns:a="http://schemas.openxmlformats.org/drawingml/2006/main">
            <a:off x="540000" y="270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二者均在MD/ML延伸上留有空白</a:t>
            </a:r>
          </a:p>
        </p:txBody>
      </p:sp>
      <p:sp>
        <p:nvSpPr>
          <p:cNvPr id="10101" name="TextBox 5"/>
          <p:cNvSpPr/>
          <p:nvPr/>
        </p:nvSpPr>
        <p:spPr>
          <a:xfrm xmlns:a="http://schemas.openxmlformats.org/drawingml/2006/main">
            <a:off x="5940000" y="1260000"/>
            <a:ext cx="1728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02" name="TextBox 6"/>
          <p:cNvSpPr/>
          <p:nvPr/>
        </p:nvSpPr>
        <p:spPr>
          <a:xfrm xmlns:a="http://schemas.openxmlformats.org/drawingml/2006/main">
            <a:off x="6012000" y="1440000"/>
            <a:ext cx="1584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InQuanto</a:t>
            </a:r>
          </a:p>
        </p:txBody>
      </p:sp>
      <p:sp>
        <p:nvSpPr>
          <p:cNvPr id="10103" name="TextBox 7"/>
          <p:cNvSpPr/>
          <p:nvPr/>
        </p:nvSpPr>
        <p:spPr>
          <a:xfrm xmlns:a="http://schemas.openxmlformats.org/drawingml/2006/main">
            <a:off x="6012000" y="216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CADCFC"/>
                </a:solidFill>
                <a:latin typeface="Georgia"/>
                <a:ea typeface="Georgia"/>
              </a:rPr>
              <a:t>重产品</a:t>
            </a:r>
          </a:p>
        </p:txBody>
      </p:sp>
      <p:sp>
        <p:nvSpPr>
          <p:cNvPr id="10104" name="TextBox 8"/>
          <p:cNvSpPr/>
          <p:nvPr/>
        </p:nvSpPr>
        <p:spPr>
          <a:xfrm xmlns:a="http://schemas.openxmlformats.org/drawingml/2006/main">
            <a:off x="6012000" y="360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闭源封闭</a:t>
            </a:r>
          </a:p>
        </p:txBody>
      </p:sp>
      <p:sp>
        <p:nvSpPr>
          <p:cNvPr id="10105" name="TextBox 9"/>
          <p:cNvSpPr/>
          <p:nvPr/>
        </p:nvSpPr>
        <p:spPr>
          <a:xfrm xmlns:a="http://schemas.openxmlformats.org/drawingml/2006/main">
            <a:off x="7812000" y="1260000"/>
            <a:ext cx="1728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06" name="TextBox 10"/>
          <p:cNvSpPr/>
          <p:nvPr/>
        </p:nvSpPr>
        <p:spPr>
          <a:xfrm xmlns:a="http://schemas.openxmlformats.org/drawingml/2006/main">
            <a:off x="7884000" y="1440000"/>
            <a:ext cx="1584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Tangelo</a:t>
            </a:r>
          </a:p>
        </p:txBody>
      </p:sp>
      <p:sp>
        <p:nvSpPr>
          <p:cNvPr id="10107" name="TextBox 11"/>
          <p:cNvSpPr/>
          <p:nvPr/>
        </p:nvSpPr>
        <p:spPr>
          <a:xfrm xmlns:a="http://schemas.openxmlformats.org/drawingml/2006/main">
            <a:off x="7884000" y="216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CADCFC"/>
                </a:solidFill>
                <a:latin typeface="Georgia"/>
                <a:ea typeface="Georgia"/>
              </a:rPr>
              <a:t>重算法</a:t>
            </a:r>
          </a:p>
        </p:txBody>
      </p:sp>
      <p:sp>
        <p:nvSpPr>
          <p:cNvPr id="10108" name="TextBox 12"/>
          <p:cNvSpPr/>
          <p:nvPr/>
        </p:nvSpPr>
        <p:spPr>
          <a:xfrm xmlns:a="http://schemas.openxmlformats.org/drawingml/2006/main">
            <a:off x="7884000" y="360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缺乏纪律</a:t>
            </a:r>
          </a:p>
        </p:txBody>
      </p:sp>
      <p:sp>
        <p:nvSpPr>
          <p:cNvPr id="10109" name="TextBox 13"/>
          <p:cNvSpPr/>
          <p:nvPr/>
        </p:nvSpPr>
        <p:spPr>
          <a:xfrm xmlns:a="http://schemas.openxmlformats.org/drawingml/2006/main">
            <a:off x="9684000" y="1260000"/>
            <a:ext cx="1728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10" name="TextBox 14"/>
          <p:cNvSpPr/>
          <p:nvPr/>
        </p:nvSpPr>
        <p:spPr>
          <a:xfrm xmlns:a="http://schemas.openxmlformats.org/drawingml/2006/main">
            <a:off x="9756000" y="1440000"/>
            <a:ext cx="1584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Our</a:t>
            </a:r>
          </a:p>
        </p:txBody>
      </p:sp>
      <p:sp>
        <p:nvSpPr>
          <p:cNvPr id="10111" name="TextBox 15"/>
          <p:cNvSpPr/>
          <p:nvPr/>
        </p:nvSpPr>
        <p:spPr>
          <a:xfrm xmlns:a="http://schemas.openxmlformats.org/drawingml/2006/main">
            <a:off x="9756000" y="216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CADCFC"/>
                </a:solidFill>
                <a:latin typeface="Georgia"/>
                <a:ea typeface="Georgia"/>
              </a:rPr>
              <a:t>全栈</a:t>
            </a:r>
          </a:p>
        </p:txBody>
      </p:sp>
      <p:sp>
        <p:nvSpPr>
          <p:cNvPr id="10112" name="TextBox 16"/>
          <p:cNvSpPr/>
          <p:nvPr/>
        </p:nvSpPr>
        <p:spPr>
          <a:xfrm xmlns:a="http://schemas.openxmlformats.org/drawingml/2006/main">
            <a:off x="9756000" y="360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开源+纪律</a:t>
            </a: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113" name="TextBox 1"/>
          <p:cNvSpPr/>
          <p:nvPr/>
        </p:nvSpPr>
        <p:spPr>
          <a:xfrm xmlns:a="http://schemas.openxmlformats.org/drawingml/2006/main">
            <a:off x="720000" y="720000"/>
            <a:ext cx="10753200" cy="54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5000" b="1">
                <a:solidFill>
                  <a:srgbClr val="FFFFFF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0114" name="TextBox 2"/>
          <p:cNvSpPr/>
          <p:nvPr/>
        </p:nvSpPr>
        <p:spPr>
          <a:xfrm xmlns:a="http://schemas.openxmlformats.org/drawingml/2006/main">
            <a:off x="720000" y="2880000"/>
            <a:ext cx="107532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Georgia"/>
                <a:ea typeface="Georgia"/>
              </a:rPr>
              <a:t>我们的优劣势与应对策略</a:t>
            </a: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115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我们的核心优势</a:t>
            </a:r>
          </a:p>
        </p:txBody>
      </p:sp>
      <p:sp>
        <p:nvSpPr>
          <p:cNvPr id="10116" name="TextBox 2"/>
          <p:cNvSpPr/>
          <p:nvPr/>
        </p:nvSpPr>
        <p:spPr>
          <a:xfrm xmlns:a="http://schemas.openxmlformats.org/drawingml/2006/main">
            <a:off x="5400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17" name="TextBox 3"/>
          <p:cNvSpPr/>
          <p:nvPr/>
        </p:nvSpPr>
        <p:spPr>
          <a:xfrm xmlns:a="http://schemas.openxmlformats.org/drawingml/2006/main">
            <a:off x="612000" y="1620000"/>
            <a:ext cx="33204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架构后发优势</a:t>
            </a:r>
          </a:p>
        </p:txBody>
      </p:sp>
      <p:sp>
        <p:nvSpPr>
          <p:cNvPr id="10118" name="TextBox 4"/>
          <p:cNvSpPr/>
          <p:nvPr/>
        </p:nvSpPr>
        <p:spPr>
          <a:xfrm xmlns:a="http://schemas.openxmlformats.org/drawingml/2006/main">
            <a:off x="6120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可以直接汲取两家所长，避免早期的技术债</a:t>
            </a:r>
          </a:p>
        </p:txBody>
      </p:sp>
      <p:sp>
        <p:nvSpPr>
          <p:cNvPr id="10119" name="TextBox 5"/>
          <p:cNvSpPr/>
          <p:nvPr/>
        </p:nvSpPr>
        <p:spPr>
          <a:xfrm xmlns:a="http://schemas.openxmlformats.org/drawingml/2006/main">
            <a:off x="43644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20" name="TextBox 6"/>
          <p:cNvSpPr/>
          <p:nvPr/>
        </p:nvSpPr>
        <p:spPr>
          <a:xfrm xmlns:a="http://schemas.openxmlformats.org/drawingml/2006/main">
            <a:off x="4436400" y="1620000"/>
            <a:ext cx="33204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可复现性设计</a:t>
            </a:r>
          </a:p>
        </p:txBody>
      </p:sp>
      <p:sp>
        <p:nvSpPr>
          <p:cNvPr id="10121" name="TextBox 7"/>
          <p:cNvSpPr/>
          <p:nvPr/>
        </p:nvSpPr>
        <p:spPr>
          <a:xfrm xmlns:a="http://schemas.openxmlformats.org/drawingml/2006/main">
            <a:off x="44364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设计之初就引入Repro/Parity机制，所有过程全留痕</a:t>
            </a:r>
          </a:p>
        </p:txBody>
      </p:sp>
      <p:sp>
        <p:nvSpPr>
          <p:cNvPr id="10122" name="TextBox 8"/>
          <p:cNvSpPr/>
          <p:nvPr/>
        </p:nvSpPr>
        <p:spPr>
          <a:xfrm xmlns:a="http://schemas.openxmlformats.org/drawingml/2006/main">
            <a:off x="81888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23" name="TextBox 9"/>
          <p:cNvSpPr/>
          <p:nvPr/>
        </p:nvSpPr>
        <p:spPr>
          <a:xfrm xmlns:a="http://schemas.openxmlformats.org/drawingml/2006/main">
            <a:off x="8260800" y="1620000"/>
            <a:ext cx="33204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MD与ML融合</a:t>
            </a:r>
          </a:p>
        </p:txBody>
      </p:sp>
      <p:sp>
        <p:nvSpPr>
          <p:cNvPr id="10124" name="TextBox 10"/>
          <p:cNvSpPr/>
          <p:nvPr/>
        </p:nvSpPr>
        <p:spPr>
          <a:xfrm xmlns:a="http://schemas.openxmlformats.org/drawingml/2006/main">
            <a:off x="82608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公司自有MD力场和ML积累，直接打通端到端材料设计</a:t>
            </a: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125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目前的劣势</a:t>
            </a:r>
          </a:p>
        </p:txBody>
      </p:sp>
      <p:sp>
        <p:nvSpPr>
          <p:cNvPr id="10126" name="TextBox 2"/>
          <p:cNvSpPr/>
          <p:nvPr/>
        </p:nvSpPr>
        <p:spPr>
          <a:xfrm xmlns:a="http://schemas.openxmlformats.org/drawingml/2006/main">
            <a:off x="5400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27" name="TextBox 3"/>
          <p:cNvSpPr/>
          <p:nvPr/>
        </p:nvSpPr>
        <p:spPr>
          <a:xfrm xmlns:a="http://schemas.openxmlformats.org/drawingml/2006/main">
            <a:off x="612000" y="1620000"/>
            <a:ext cx="33204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起步晚</a:t>
            </a:r>
          </a:p>
        </p:txBody>
      </p:sp>
      <p:sp>
        <p:nvSpPr>
          <p:cNvPr id="10128" name="TextBox 4"/>
          <p:cNvSpPr/>
          <p:nvPr/>
        </p:nvSpPr>
        <p:spPr>
          <a:xfrm xmlns:a="http://schemas.openxmlformats.org/drawingml/2006/main">
            <a:off x="6120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尚未形成庞大的用户社区和完善的教程生态</a:t>
            </a:r>
          </a:p>
        </p:txBody>
      </p:sp>
      <p:sp>
        <p:nvSpPr>
          <p:cNvPr id="10129" name="TextBox 5"/>
          <p:cNvSpPr/>
          <p:nvPr/>
        </p:nvSpPr>
        <p:spPr>
          <a:xfrm xmlns:a="http://schemas.openxmlformats.org/drawingml/2006/main">
            <a:off x="43644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30" name="TextBox 6"/>
          <p:cNvSpPr/>
          <p:nvPr/>
        </p:nvSpPr>
        <p:spPr>
          <a:xfrm xmlns:a="http://schemas.openxmlformats.org/drawingml/2006/main">
            <a:off x="4436400" y="1620000"/>
            <a:ext cx="33204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算法深度</a:t>
            </a:r>
          </a:p>
        </p:txBody>
      </p:sp>
      <p:sp>
        <p:nvSpPr>
          <p:cNvPr id="10131" name="TextBox 7"/>
          <p:cNvSpPr/>
          <p:nvPr/>
        </p:nvSpPr>
        <p:spPr>
          <a:xfrm xmlns:a="http://schemas.openxmlformats.org/drawingml/2006/main">
            <a:off x="44364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在高级大体系求解(如复杂碎片法)上仍需逐步追赶</a:t>
            </a:r>
          </a:p>
        </p:txBody>
      </p:sp>
      <p:sp>
        <p:nvSpPr>
          <p:cNvPr id="10132" name="TextBox 8"/>
          <p:cNvSpPr/>
          <p:nvPr/>
        </p:nvSpPr>
        <p:spPr>
          <a:xfrm xmlns:a="http://schemas.openxmlformats.org/drawingml/2006/main">
            <a:off x="81888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33" name="TextBox 9"/>
          <p:cNvSpPr/>
          <p:nvPr/>
        </p:nvSpPr>
        <p:spPr>
          <a:xfrm xmlns:a="http://schemas.openxmlformats.org/drawingml/2006/main">
            <a:off x="8260800" y="1620000"/>
            <a:ext cx="33204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商业包装</a:t>
            </a:r>
          </a:p>
        </p:txBody>
      </p:sp>
      <p:sp>
        <p:nvSpPr>
          <p:cNvPr id="10134" name="TextBox 10"/>
          <p:cNvSpPr/>
          <p:nvPr/>
        </p:nvSpPr>
        <p:spPr>
          <a:xfrm xmlns:a="http://schemas.openxmlformats.org/drawingml/2006/main">
            <a:off x="82608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尚未形成与云计算平台深度集成的商业化UI前端</a:t>
            </a: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135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策略：我们要做什么？</a:t>
            </a:r>
          </a:p>
        </p:txBody>
      </p:sp>
      <p:sp>
        <p:nvSpPr>
          <p:cNvPr id="10136" name="TextBox 2"/>
          <p:cNvSpPr/>
          <p:nvPr/>
        </p:nvSpPr>
        <p:spPr>
          <a:xfrm xmlns:a="http://schemas.openxmlformats.org/drawingml/2006/main">
            <a:off x="540000" y="126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不做InQuanto的无脑克隆，不强求商业云UI的一比一</a:t>
            </a:r>
          </a:p>
        </p:txBody>
      </p:sp>
      <p:sp>
        <p:nvSpPr>
          <p:cNvPr id="10137" name="TextBox 3"/>
          <p:cNvSpPr/>
          <p:nvPr/>
        </p:nvSpPr>
        <p:spPr>
          <a:xfrm xmlns:a="http://schemas.openxmlformats.org/drawingml/2006/main">
            <a:off x="540000" y="198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构建开放、可审计(Audit)、可插入的编排层</a:t>
            </a:r>
          </a:p>
        </p:txBody>
      </p:sp>
      <p:sp>
        <p:nvSpPr>
          <p:cNvPr id="10138" name="TextBox 4"/>
          <p:cNvSpPr/>
          <p:nvPr/>
        </p:nvSpPr>
        <p:spPr>
          <a:xfrm xmlns:a="http://schemas.openxmlformats.org/drawingml/2006/main">
            <a:off x="540000" y="270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把Tangelo的算法装入InQuanto的纪律里</a:t>
            </a:r>
          </a:p>
        </p:txBody>
      </p:sp>
      <p:sp>
        <p:nvSpPr>
          <p:cNvPr id="10139" name="TextBox 5"/>
          <p:cNvSpPr/>
          <p:nvPr/>
        </p:nvSpPr>
        <p:spPr>
          <a:xfrm xmlns:a="http://schemas.openxmlformats.org/drawingml/2006/main">
            <a:off x="540000" y="342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在ML和自研MD接口上打出差异化长板</a:t>
            </a:r>
          </a:p>
        </p:txBody>
      </p:sp>
      <p:sp>
        <p:nvSpPr>
          <p:cNvPr id="10140" name="TextBox 6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41" name="TextBox 7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总原则</a:t>
            </a:r>
          </a:p>
        </p:txBody>
      </p:sp>
      <p:sp>
        <p:nvSpPr>
          <p:cNvPr id="10142" name="TextBox 8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用纪律管住广度，用开源打败封闭，用生态(MD/ML)拓展边界。</a:t>
            </a: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143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竞争定调：P0 到 P3</a:t>
            </a:r>
          </a:p>
        </p:txBody>
      </p:sp>
      <p:sp>
        <p:nvSpPr>
          <p:cNvPr id="10144" name="TextBox 2"/>
          <p:cNvSpPr/>
          <p:nvPr/>
        </p:nvSpPr>
        <p:spPr>
          <a:xfrm xmlns:a="http://schemas.openxmlformats.org/drawingml/2006/main">
            <a:off x="540000" y="126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P0: 建立绝对可信的Methods引擎(Repro机制)</a:t>
            </a:r>
          </a:p>
        </p:txBody>
      </p:sp>
      <p:sp>
        <p:nvSpPr>
          <p:cNvPr id="10145" name="TextBox 3"/>
          <p:cNvSpPr/>
          <p:nvPr/>
        </p:nvSpPr>
        <p:spPr>
          <a:xfrm xmlns:a="http://schemas.openxmlformats.org/drawingml/2006/main">
            <a:off x="540000" y="198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P1: 超越现有开源库的杂乱，实现一等工作流对象</a:t>
            </a:r>
          </a:p>
        </p:txBody>
      </p:sp>
      <p:sp>
        <p:nvSpPr>
          <p:cNvPr id="10146" name="TextBox 4"/>
          <p:cNvSpPr/>
          <p:nvPr/>
        </p:nvSpPr>
        <p:spPr>
          <a:xfrm xmlns:a="http://schemas.openxmlformats.org/drawingml/2006/main">
            <a:off x="540000" y="270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P2: 深化大体系(Embedding)、QPE与MD/ML的差异化</a:t>
            </a:r>
          </a:p>
        </p:txBody>
      </p:sp>
      <p:sp>
        <p:nvSpPr>
          <p:cNvPr id="10147" name="TextBox 5"/>
          <p:cNvSpPr/>
          <p:nvPr/>
        </p:nvSpPr>
        <p:spPr>
          <a:xfrm xmlns:a="http://schemas.openxmlformats.org/drawingml/2006/main">
            <a:off x="540000" y="342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P3: 完善产品生态(教程、前端看板、社区)</a:t>
            </a:r>
          </a:p>
        </p:txBody>
      </p:sp>
      <p:sp>
        <p:nvSpPr>
          <p:cNvPr id="10148" name="TextBox 6"/>
          <p:cNvSpPr/>
          <p:nvPr/>
        </p:nvSpPr>
        <p:spPr>
          <a:xfrm xmlns:a="http://schemas.openxmlformats.org/drawingml/2006/main">
            <a:off x="5940000" y="1260000"/>
            <a:ext cx="1728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49" name="TextBox 7"/>
          <p:cNvSpPr/>
          <p:nvPr/>
        </p:nvSpPr>
        <p:spPr>
          <a:xfrm xmlns:a="http://schemas.openxmlformats.org/drawingml/2006/main">
            <a:off x="6012000" y="1440000"/>
            <a:ext cx="1584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P0-P1</a:t>
            </a:r>
          </a:p>
        </p:txBody>
      </p:sp>
      <p:sp>
        <p:nvSpPr>
          <p:cNvPr id="10150" name="TextBox 8"/>
          <p:cNvSpPr/>
          <p:nvPr/>
        </p:nvSpPr>
        <p:spPr>
          <a:xfrm xmlns:a="http://schemas.openxmlformats.org/drawingml/2006/main">
            <a:off x="6012000" y="216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CADCFC"/>
                </a:solidFill>
                <a:latin typeface="Georgia"/>
                <a:ea typeface="Georgia"/>
              </a:rPr>
              <a:t>可信工作流</a:t>
            </a:r>
          </a:p>
        </p:txBody>
      </p:sp>
      <p:sp>
        <p:nvSpPr>
          <p:cNvPr id="10151" name="TextBox 9"/>
          <p:cNvSpPr/>
          <p:nvPr/>
        </p:nvSpPr>
        <p:spPr>
          <a:xfrm xmlns:a="http://schemas.openxmlformats.org/drawingml/2006/main">
            <a:off x="6012000" y="360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对标基础能力</a:t>
            </a:r>
          </a:p>
        </p:txBody>
      </p:sp>
      <p:sp>
        <p:nvSpPr>
          <p:cNvPr id="10152" name="TextBox 10"/>
          <p:cNvSpPr/>
          <p:nvPr/>
        </p:nvSpPr>
        <p:spPr>
          <a:xfrm xmlns:a="http://schemas.openxmlformats.org/drawingml/2006/main">
            <a:off x="7812000" y="1260000"/>
            <a:ext cx="1728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53" name="TextBox 11"/>
          <p:cNvSpPr/>
          <p:nvPr/>
        </p:nvSpPr>
        <p:spPr>
          <a:xfrm xmlns:a="http://schemas.openxmlformats.org/drawingml/2006/main">
            <a:off x="7884000" y="1440000"/>
            <a:ext cx="1584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P2</a:t>
            </a:r>
          </a:p>
        </p:txBody>
      </p:sp>
      <p:sp>
        <p:nvSpPr>
          <p:cNvPr id="10154" name="TextBox 12"/>
          <p:cNvSpPr/>
          <p:nvPr/>
        </p:nvSpPr>
        <p:spPr>
          <a:xfrm xmlns:a="http://schemas.openxmlformats.org/drawingml/2006/main">
            <a:off x="7884000" y="216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CADCFC"/>
                </a:solidFill>
                <a:latin typeface="Georgia"/>
                <a:ea typeface="Georgia"/>
              </a:rPr>
              <a:t>MD/ML</a:t>
            </a:r>
          </a:p>
        </p:txBody>
      </p:sp>
      <p:sp>
        <p:nvSpPr>
          <p:cNvPr id="10155" name="TextBox 13"/>
          <p:cNvSpPr/>
          <p:nvPr/>
        </p:nvSpPr>
        <p:spPr>
          <a:xfrm xmlns:a="http://schemas.openxmlformats.org/drawingml/2006/main">
            <a:off x="7884000" y="360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形成独特壁垒</a:t>
            </a:r>
          </a:p>
        </p:txBody>
      </p:sp>
      <p:sp>
        <p:nvSpPr>
          <p:cNvPr id="10156" name="TextBox 14"/>
          <p:cNvSpPr/>
          <p:nvPr/>
        </p:nvSpPr>
        <p:spPr>
          <a:xfrm xmlns:a="http://schemas.openxmlformats.org/drawingml/2006/main">
            <a:off x="9684000" y="1260000"/>
            <a:ext cx="1728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57" name="TextBox 15"/>
          <p:cNvSpPr/>
          <p:nvPr/>
        </p:nvSpPr>
        <p:spPr>
          <a:xfrm xmlns:a="http://schemas.openxmlformats.org/drawingml/2006/main">
            <a:off x="9756000" y="1440000"/>
            <a:ext cx="1584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P3</a:t>
            </a:r>
          </a:p>
        </p:txBody>
      </p:sp>
      <p:sp>
        <p:nvSpPr>
          <p:cNvPr id="10158" name="TextBox 16"/>
          <p:cNvSpPr/>
          <p:nvPr/>
        </p:nvSpPr>
        <p:spPr>
          <a:xfrm xmlns:a="http://schemas.openxmlformats.org/drawingml/2006/main">
            <a:off x="9756000" y="216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CADCFC"/>
                </a:solidFill>
                <a:latin typeface="Georgia"/>
                <a:ea typeface="Georgia"/>
              </a:rPr>
              <a:t>生态</a:t>
            </a:r>
          </a:p>
        </p:txBody>
      </p:sp>
      <p:sp>
        <p:nvSpPr>
          <p:cNvPr id="10159" name="TextBox 17"/>
          <p:cNvSpPr/>
          <p:nvPr/>
        </p:nvSpPr>
        <p:spPr>
          <a:xfrm xmlns:a="http://schemas.openxmlformats.org/drawingml/2006/main">
            <a:off x="9756000" y="360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走向商业级产品</a:t>
            </a: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160" name="TextBox 1"/>
          <p:cNvSpPr/>
          <p:nvPr/>
        </p:nvSpPr>
        <p:spPr>
          <a:xfrm xmlns:a="http://schemas.openxmlformats.org/drawingml/2006/main">
            <a:off x="720000" y="720000"/>
            <a:ext cx="10753200" cy="54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5000" b="1">
                <a:solidFill>
                  <a:srgbClr val="FFFFFF"/>
                </a:solidFill>
                <a:latin typeface="Georgia"/>
                <a:ea typeface="Georgia"/>
              </a:rPr>
              <a:t>04</a:t>
            </a:r>
          </a:p>
        </p:txBody>
      </p:sp>
      <p:sp>
        <p:nvSpPr>
          <p:cNvPr id="10161" name="TextBox 2"/>
          <p:cNvSpPr/>
          <p:nvPr/>
        </p:nvSpPr>
        <p:spPr>
          <a:xfrm xmlns:a="http://schemas.openxmlformats.org/drawingml/2006/main">
            <a:off x="720000" y="2880000"/>
            <a:ext cx="107532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Georgia"/>
                <a:ea typeface="Georgia"/>
              </a:rPr>
              <a:t>接下来的计划与架构设计</a:t>
            </a:r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162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整体架构设计：从前向后填</a:t>
            </a:r>
          </a:p>
        </p:txBody>
      </p:sp>
      <p:sp>
        <p:nvSpPr>
          <p:cNvPr id="10163" name="TextBox 2"/>
          <p:cNvSpPr/>
          <p:nvPr/>
        </p:nvSpPr>
        <p:spPr>
          <a:xfrm xmlns:a="http://schemas.openxmlformats.org/drawingml/2006/main">
            <a:off x="540000" y="126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顶层架构预留：经典化学+量子核心+编译/后端+ML/MD</a:t>
            </a:r>
          </a:p>
        </p:txBody>
      </p:sp>
      <p:sp>
        <p:nvSpPr>
          <p:cNvPr id="10164" name="TextBox 3"/>
          <p:cNvSpPr/>
          <p:nvPr/>
        </p:nvSpPr>
        <p:spPr>
          <a:xfrm xmlns:a="http://schemas.openxmlformats.org/drawingml/2006/main">
            <a:off x="540000" y="198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初期不纠结每个模块的具体算法精度</a:t>
            </a:r>
          </a:p>
        </p:txBody>
      </p:sp>
      <p:sp>
        <p:nvSpPr>
          <p:cNvPr id="10165" name="TextBox 4"/>
          <p:cNvSpPr/>
          <p:nvPr/>
        </p:nvSpPr>
        <p:spPr>
          <a:xfrm xmlns:a="http://schemas.openxmlformats.org/drawingml/2006/main">
            <a:off x="540000" y="270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先打通骨架，确保YAML配置-&gt;执行-&gt;Repro报告全链路畅通</a:t>
            </a:r>
          </a:p>
        </p:txBody>
      </p:sp>
      <p:sp>
        <p:nvSpPr>
          <p:cNvPr id="10166" name="TextBox 5"/>
          <p:cNvSpPr/>
          <p:nvPr/>
        </p:nvSpPr>
        <p:spPr>
          <a:xfrm xmlns:a="http://schemas.openxmlformats.org/drawingml/2006/main">
            <a:off x="540000" y="342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为多后端(Qiskit, IonStack, 云作业)留出API抽象</a:t>
            </a:r>
          </a:p>
        </p:txBody>
      </p:sp>
      <p:sp>
        <p:nvSpPr>
          <p:cNvPr id="10167" name="TextBox 6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68" name="TextBox 7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填坑策略</a:t>
            </a:r>
          </a:p>
        </p:txBody>
      </p:sp>
      <p:sp>
        <p:nvSpPr>
          <p:cNvPr id="10169" name="TextBox 8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先搭好整体的高速公路(架构接口)，然后再往各个模块里填高级车(算法)。</a:t>
            </a:r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170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模块间交互流 (Data Flow)</a:t>
            </a:r>
          </a:p>
        </p:txBody>
      </p:sp>
      <p:sp>
        <p:nvSpPr>
          <p:cNvPr id="10171" name="TextBox 2"/>
          <p:cNvSpPr/>
          <p:nvPr/>
        </p:nvSpPr>
        <p:spPr>
          <a:xfrm xmlns:a="http://schemas.openxmlformats.org/drawingml/2006/main">
            <a:off x="5400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72" name="TextBox 3"/>
          <p:cNvSpPr/>
          <p:nvPr/>
        </p:nvSpPr>
        <p:spPr>
          <a:xfrm xmlns:a="http://schemas.openxmlformats.org/drawingml/2006/main">
            <a:off x="612000" y="1620000"/>
            <a:ext cx="33204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输入层</a:t>
            </a:r>
          </a:p>
        </p:txBody>
      </p:sp>
      <p:sp>
        <p:nvSpPr>
          <p:cNvPr id="10173" name="TextBox 4"/>
          <p:cNvSpPr/>
          <p:nvPr/>
        </p:nvSpPr>
        <p:spPr>
          <a:xfrm xmlns:a="http://schemas.openxmlformats.org/drawingml/2006/main">
            <a:off x="6120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化学输入(YAML) -&gt; 经典化学(PySCF)得到积分</a:t>
            </a:r>
          </a:p>
        </p:txBody>
      </p:sp>
      <p:sp>
        <p:nvSpPr>
          <p:cNvPr id="10174" name="TextBox 5"/>
          <p:cNvSpPr/>
          <p:nvPr/>
        </p:nvSpPr>
        <p:spPr>
          <a:xfrm xmlns:a="http://schemas.openxmlformats.org/drawingml/2006/main">
            <a:off x="43644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ADCF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75" name="TextBox 6"/>
          <p:cNvSpPr/>
          <p:nvPr/>
        </p:nvSpPr>
        <p:spPr>
          <a:xfrm xmlns:a="http://schemas.openxmlformats.org/drawingml/2006/main">
            <a:off x="4436400" y="1620000"/>
            <a:ext cx="33204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量子层</a:t>
            </a:r>
          </a:p>
        </p:txBody>
      </p:sp>
      <p:sp>
        <p:nvSpPr>
          <p:cNvPr id="10176" name="TextBox 7"/>
          <p:cNvSpPr/>
          <p:nvPr/>
        </p:nvSpPr>
        <p:spPr>
          <a:xfrm xmlns:a="http://schemas.openxmlformats.org/drawingml/2006/main">
            <a:off x="44364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哈密顿量与 Ansatz → 电路 IR / 编译</a:t>
            </a:r>
          </a:p>
        </p:txBody>
      </p:sp>
      <p:sp>
        <p:nvSpPr>
          <p:cNvPr id="10177" name="TextBox 8"/>
          <p:cNvSpPr/>
          <p:nvPr/>
        </p:nvSpPr>
        <p:spPr>
          <a:xfrm xmlns:a="http://schemas.openxmlformats.org/drawingml/2006/main">
            <a:off x="81888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78" name="TextBox 9"/>
          <p:cNvSpPr/>
          <p:nvPr/>
        </p:nvSpPr>
        <p:spPr>
          <a:xfrm xmlns:a="http://schemas.openxmlformats.org/drawingml/2006/main">
            <a:off x="8260800" y="1620000"/>
            <a:ext cx="33204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执行层</a:t>
            </a:r>
          </a:p>
        </p:txBody>
      </p:sp>
      <p:sp>
        <p:nvSpPr>
          <p:cNvPr id="10179" name="TextBox 10"/>
          <p:cNvSpPr/>
          <p:nvPr/>
        </p:nvSpPr>
        <p:spPr>
          <a:xfrm xmlns:a="http://schemas.openxmlformats.org/drawingml/2006/main">
            <a:off x="82608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多后端分发 -&gt; 汇总态与能量 -&gt; Repro日志</a:t>
            </a:r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180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第一步：快速复现竞品功能</a:t>
            </a:r>
          </a:p>
        </p:txBody>
      </p:sp>
      <p:sp>
        <p:nvSpPr>
          <p:cNvPr id="10181" name="TextBox 2"/>
          <p:cNvSpPr/>
          <p:nvPr/>
        </p:nvSpPr>
        <p:spPr>
          <a:xfrm xmlns:a="http://schemas.openxmlformats.org/drawingml/2006/main">
            <a:off x="540000" y="126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先挑选 InQuanto 和 Tangelo 中最典型的功能(如VQE, DMET)</a:t>
            </a:r>
          </a:p>
        </p:txBody>
      </p:sp>
      <p:sp>
        <p:nvSpPr>
          <p:cNvPr id="10182" name="TextBox 3"/>
          <p:cNvSpPr/>
          <p:nvPr/>
        </p:nvSpPr>
        <p:spPr>
          <a:xfrm xmlns:a="http://schemas.openxmlformats.org/drawingml/2006/main">
            <a:off x="540000" y="198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使用我们自研的这套框架进行复现</a:t>
            </a:r>
          </a:p>
        </p:txBody>
      </p:sp>
      <p:sp>
        <p:nvSpPr>
          <p:cNvPr id="10183" name="TextBox 4"/>
          <p:cNvSpPr/>
          <p:nvPr/>
        </p:nvSpPr>
        <p:spPr>
          <a:xfrm xmlns:a="http://schemas.openxmlformats.org/drawingml/2006/main">
            <a:off x="540000" y="270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验证能否用同样的化学输入得到一致的输出(Parity一致性)</a:t>
            </a:r>
          </a:p>
        </p:txBody>
      </p:sp>
      <p:sp>
        <p:nvSpPr>
          <p:cNvPr id="10184" name="TextBox 5"/>
          <p:cNvSpPr/>
          <p:nvPr/>
        </p:nvSpPr>
        <p:spPr>
          <a:xfrm xmlns:a="http://schemas.openxmlformats.org/drawingml/2006/main">
            <a:off x="540000" y="342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在内部输出对比报告，确认架构灵活性</a:t>
            </a:r>
          </a:p>
        </p:txBody>
      </p:sp>
      <p:sp>
        <p:nvSpPr>
          <p:cNvPr id="10185" name="TextBox 6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86" name="TextBox 7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复现</a:t>
            </a:r>
          </a:p>
        </p:txBody>
      </p:sp>
      <p:sp>
        <p:nvSpPr>
          <p:cNvPr id="10187" name="TextBox 8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这是检验架构承载能力的试金石。</a:t>
            </a:r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188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第二步：文献复现与新算法支持</a:t>
            </a:r>
          </a:p>
        </p:txBody>
      </p:sp>
      <p:sp>
        <p:nvSpPr>
          <p:cNvPr id="10189" name="TextBox 2"/>
          <p:cNvSpPr/>
          <p:nvPr/>
        </p:nvSpPr>
        <p:spPr>
          <a:xfrm xmlns:a="http://schemas.openxmlformats.org/drawingml/2006/main">
            <a:off x="540000" y="126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用我们的框架复现顶级期刊(Nature/Science子刊)中的量子化学实验</a:t>
            </a:r>
          </a:p>
        </p:txBody>
      </p:sp>
      <p:sp>
        <p:nvSpPr>
          <p:cNvPr id="10190" name="TextBox 3"/>
          <p:cNvSpPr/>
          <p:nvPr/>
        </p:nvSpPr>
        <p:spPr>
          <a:xfrm xmlns:a="http://schemas.openxmlformats.org/drawingml/2006/main">
            <a:off x="540000" y="198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确保生成的Repro JSON可以直接作为论文的Methods附件</a:t>
            </a:r>
          </a:p>
        </p:txBody>
      </p:sp>
      <p:sp>
        <p:nvSpPr>
          <p:cNvPr id="10191" name="TextBox 4"/>
          <p:cNvSpPr/>
          <p:nvPr/>
        </p:nvSpPr>
        <p:spPr>
          <a:xfrm xmlns:a="http://schemas.openxmlformats.org/drawingml/2006/main">
            <a:off x="540000" y="270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开发支持内部研究员测试新量子算法(如新VQE变种)的插件体系</a:t>
            </a:r>
          </a:p>
        </p:txBody>
      </p:sp>
      <p:sp>
        <p:nvSpPr>
          <p:cNvPr id="10192" name="TextBox 5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93" name="TextBox 6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科研背书</a:t>
            </a:r>
          </a:p>
        </p:txBody>
      </p:sp>
      <p:sp>
        <p:nvSpPr>
          <p:cNvPr id="10194" name="TextBox 7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通过复现文献建立学术界公信力，这比任何广告都有效。</a:t>
            </a:r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195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第三步：API接入ML与自研MD</a:t>
            </a:r>
          </a:p>
        </p:txBody>
      </p:sp>
      <p:sp>
        <p:nvSpPr>
          <p:cNvPr id="10196" name="TextBox 2"/>
          <p:cNvSpPr/>
          <p:nvPr/>
        </p:nvSpPr>
        <p:spPr>
          <a:xfrm xmlns:a="http://schemas.openxmlformats.org/drawingml/2006/main">
            <a:off x="540000" y="126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量子侧输出的能量和力，不再只是终点，而是起点</a:t>
            </a:r>
          </a:p>
        </p:txBody>
      </p:sp>
      <p:sp>
        <p:nvSpPr>
          <p:cNvPr id="10197" name="TextBox 3"/>
          <p:cNvSpPr/>
          <p:nvPr/>
        </p:nvSpPr>
        <p:spPr>
          <a:xfrm xmlns:a="http://schemas.openxmlformats.org/drawingml/2006/main">
            <a:off x="540000" y="198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对接分子动力学(QMEFDataset, NequIP/MACE hooks)</a:t>
            </a:r>
          </a:p>
        </p:txBody>
      </p:sp>
      <p:sp>
        <p:nvSpPr>
          <p:cNvPr id="10198" name="TextBox 4"/>
          <p:cNvSpPr/>
          <p:nvPr/>
        </p:nvSpPr>
        <p:spPr>
          <a:xfrm xmlns:a="http://schemas.openxmlformats.org/drawingml/2006/main">
            <a:off x="540000" y="270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训练基于量子高精度的自研分子动力学力场</a:t>
            </a:r>
          </a:p>
        </p:txBody>
      </p:sp>
      <p:sp>
        <p:nvSpPr>
          <p:cNvPr id="10199" name="TextBox 5"/>
          <p:cNvSpPr/>
          <p:nvPr/>
        </p:nvSpPr>
        <p:spPr>
          <a:xfrm xmlns:a="http://schemas.openxmlformats.org/drawingml/2006/main">
            <a:off x="540000" y="342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利用ML Surrogate替代部分昂贵的量子模拟</a:t>
            </a:r>
          </a:p>
        </p:txBody>
      </p:sp>
      <p:sp>
        <p:nvSpPr>
          <p:cNvPr id="10200" name="TextBox 6"/>
          <p:cNvSpPr/>
          <p:nvPr/>
        </p:nvSpPr>
        <p:spPr>
          <a:xfrm xmlns:a="http://schemas.openxmlformats.org/drawingml/2006/main">
            <a:off x="5940000" y="1260000"/>
            <a:ext cx="1728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201" name="TextBox 7"/>
          <p:cNvSpPr/>
          <p:nvPr/>
        </p:nvSpPr>
        <p:spPr>
          <a:xfrm xmlns:a="http://schemas.openxmlformats.org/drawingml/2006/main">
            <a:off x="6012000" y="1440000"/>
            <a:ext cx="1584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QC</a:t>
            </a:r>
          </a:p>
        </p:txBody>
      </p:sp>
      <p:sp>
        <p:nvSpPr>
          <p:cNvPr id="10202" name="TextBox 8"/>
          <p:cNvSpPr/>
          <p:nvPr/>
        </p:nvSpPr>
        <p:spPr>
          <a:xfrm xmlns:a="http://schemas.openxmlformats.org/drawingml/2006/main">
            <a:off x="6012000" y="216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CADCFC"/>
                </a:solidFill>
                <a:latin typeface="Georgia"/>
                <a:ea typeface="Georgia"/>
              </a:rPr>
              <a:t>高精度数据</a:t>
            </a:r>
          </a:p>
        </p:txBody>
      </p:sp>
      <p:sp>
        <p:nvSpPr>
          <p:cNvPr id="10203" name="TextBox 9"/>
          <p:cNvSpPr/>
          <p:nvPr/>
        </p:nvSpPr>
        <p:spPr>
          <a:xfrm xmlns:a="http://schemas.openxmlformats.org/drawingml/2006/main">
            <a:off x="6012000" y="360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能量与力</a:t>
            </a:r>
          </a:p>
        </p:txBody>
      </p:sp>
      <p:sp>
        <p:nvSpPr>
          <p:cNvPr id="10204" name="TextBox 10"/>
          <p:cNvSpPr/>
          <p:nvPr/>
        </p:nvSpPr>
        <p:spPr>
          <a:xfrm xmlns:a="http://schemas.openxmlformats.org/drawingml/2006/main">
            <a:off x="7812000" y="1260000"/>
            <a:ext cx="1728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205" name="TextBox 11"/>
          <p:cNvSpPr/>
          <p:nvPr/>
        </p:nvSpPr>
        <p:spPr>
          <a:xfrm xmlns:a="http://schemas.openxmlformats.org/drawingml/2006/main">
            <a:off x="7884000" y="1440000"/>
            <a:ext cx="1584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ML</a:t>
            </a:r>
          </a:p>
        </p:txBody>
      </p:sp>
      <p:sp>
        <p:nvSpPr>
          <p:cNvPr id="10206" name="TextBox 12"/>
          <p:cNvSpPr/>
          <p:nvPr/>
        </p:nvSpPr>
        <p:spPr>
          <a:xfrm xmlns:a="http://schemas.openxmlformats.org/drawingml/2006/main">
            <a:off x="7884000" y="216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CADCFC"/>
                </a:solidFill>
                <a:latin typeface="Georgia"/>
                <a:ea typeface="Georgia"/>
              </a:rPr>
              <a:t>势函数训练</a:t>
            </a:r>
          </a:p>
        </p:txBody>
      </p:sp>
      <p:sp>
        <p:nvSpPr>
          <p:cNvPr id="10207" name="TextBox 13"/>
          <p:cNvSpPr/>
          <p:nvPr/>
        </p:nvSpPr>
        <p:spPr>
          <a:xfrm xmlns:a="http://schemas.openxmlformats.org/drawingml/2006/main">
            <a:off x="7884000" y="360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提升规模</a:t>
            </a:r>
          </a:p>
        </p:txBody>
      </p:sp>
      <p:sp>
        <p:nvSpPr>
          <p:cNvPr id="10208" name="TextBox 14"/>
          <p:cNvSpPr/>
          <p:nvPr/>
        </p:nvSpPr>
        <p:spPr>
          <a:xfrm xmlns:a="http://schemas.openxmlformats.org/drawingml/2006/main">
            <a:off x="9684000" y="1260000"/>
            <a:ext cx="1728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209" name="TextBox 15"/>
          <p:cNvSpPr/>
          <p:nvPr/>
        </p:nvSpPr>
        <p:spPr>
          <a:xfrm xmlns:a="http://schemas.openxmlformats.org/drawingml/2006/main">
            <a:off x="9756000" y="1440000"/>
            <a:ext cx="1584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MD</a:t>
            </a:r>
          </a:p>
        </p:txBody>
      </p:sp>
      <p:sp>
        <p:nvSpPr>
          <p:cNvPr id="10210" name="TextBox 16"/>
          <p:cNvSpPr/>
          <p:nvPr/>
        </p:nvSpPr>
        <p:spPr>
          <a:xfrm xmlns:a="http://schemas.openxmlformats.org/drawingml/2006/main">
            <a:off x="9756000" y="216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CADCFC"/>
                </a:solidFill>
                <a:latin typeface="Georgia"/>
                <a:ea typeface="Georgia"/>
              </a:rPr>
              <a:t>大分子演化</a:t>
            </a:r>
          </a:p>
        </p:txBody>
      </p:sp>
      <p:sp>
        <p:nvSpPr>
          <p:cNvPr id="10211" name="TextBox 17"/>
          <p:cNvSpPr/>
          <p:nvPr/>
        </p:nvSpPr>
        <p:spPr>
          <a:xfrm xmlns:a="http://schemas.openxmlformats.org/drawingml/2006/main">
            <a:off x="9756000" y="360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产业级应用</a:t>
            </a:r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212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最终目标：端到端全连通</a:t>
            </a:r>
          </a:p>
        </p:txBody>
      </p:sp>
      <p:sp>
        <p:nvSpPr>
          <p:cNvPr id="10213" name="TextBox 2"/>
          <p:cNvSpPr/>
          <p:nvPr/>
        </p:nvSpPr>
        <p:spPr>
          <a:xfrm xmlns:a="http://schemas.openxmlformats.org/drawingml/2006/main">
            <a:off x="540000" y="126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输入：分子结构与业务需求</a:t>
            </a:r>
          </a:p>
        </p:txBody>
      </p:sp>
      <p:sp>
        <p:nvSpPr>
          <p:cNvPr id="10214" name="TextBox 3"/>
          <p:cNvSpPr/>
          <p:nvPr/>
        </p:nvSpPr>
        <p:spPr>
          <a:xfrm xmlns:a="http://schemas.openxmlformats.org/drawingml/2006/main">
            <a:off x="540000" y="198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引擎：量子计算+计算化学框架智能拆解计算任务</a:t>
            </a:r>
          </a:p>
        </p:txBody>
      </p:sp>
      <p:sp>
        <p:nvSpPr>
          <p:cNvPr id="10215" name="TextBox 4"/>
          <p:cNvSpPr/>
          <p:nvPr/>
        </p:nvSpPr>
        <p:spPr>
          <a:xfrm xmlns:a="http://schemas.openxmlformats.org/drawingml/2006/main">
            <a:off x="540000" y="270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放大：通过ML力场扩展到大尺度模拟</a:t>
            </a:r>
          </a:p>
        </p:txBody>
      </p:sp>
      <p:sp>
        <p:nvSpPr>
          <p:cNvPr id="10216" name="TextBox 5"/>
          <p:cNvSpPr/>
          <p:nvPr/>
        </p:nvSpPr>
        <p:spPr>
          <a:xfrm xmlns:a="http://schemas.openxmlformats.org/drawingml/2006/main">
            <a:off x="540000" y="342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输出：材料性质或药物活性预测</a:t>
            </a:r>
          </a:p>
        </p:txBody>
      </p:sp>
      <p:sp>
        <p:nvSpPr>
          <p:cNvPr id="10217" name="TextBox 6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218" name="TextBox 7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全链路闭环</a:t>
            </a:r>
          </a:p>
        </p:txBody>
      </p:sp>
      <p:sp>
        <p:nvSpPr>
          <p:cNvPr id="10219" name="TextBox 8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不仅解决了如何算得准的问题，更解决了算准了有什么用的问题。</a:t>
            </a:r>
          </a:p>
        </p:txBody>
      </p:sp>
    </p:spTree>
  </p:cSld>
</p:sld>
</file>

<file path=ppt/slides/slide2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220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近期执行路线 (Roadmap)</a:t>
            </a:r>
          </a:p>
        </p:txBody>
      </p:sp>
      <p:sp>
        <p:nvSpPr>
          <p:cNvPr id="10221" name="TextBox 2"/>
          <p:cNvSpPr/>
          <p:nvPr/>
        </p:nvSpPr>
        <p:spPr>
          <a:xfrm xmlns:a="http://schemas.openxmlformats.org/drawingml/2006/main">
            <a:off x="540000" y="126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下个月：冻结Repro schema，打通VQE/ADAPT的基础骨架</a:t>
            </a:r>
          </a:p>
        </p:txBody>
      </p:sp>
      <p:sp>
        <p:nvSpPr>
          <p:cNvPr id="10222" name="TextBox 3"/>
          <p:cNvSpPr/>
          <p:nvPr/>
        </p:nvSpPr>
        <p:spPr>
          <a:xfrm xmlns:a="http://schemas.openxmlformats.org/drawingml/2006/main">
            <a:off x="540000" y="198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Q3：复现主流架构，推出完善的多后端支持与DMET</a:t>
            </a:r>
          </a:p>
        </p:txBody>
      </p:sp>
      <p:sp>
        <p:nvSpPr>
          <p:cNvPr id="10223" name="TextBox 4"/>
          <p:cNvSpPr/>
          <p:nvPr/>
        </p:nvSpPr>
        <p:spPr>
          <a:xfrm xmlns:a="http://schemas.openxmlformats.org/drawingml/2006/main">
            <a:off x="540000" y="270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Q4：上线MD/ML接口，跑通内部第一个势函数训练Demo</a:t>
            </a:r>
          </a:p>
        </p:txBody>
      </p:sp>
      <p:sp>
        <p:nvSpPr>
          <p:cNvPr id="10224" name="TextBox 5"/>
          <p:cNvSpPr/>
          <p:nvPr/>
        </p:nvSpPr>
        <p:spPr>
          <a:xfrm xmlns:a="http://schemas.openxmlformats.org/drawingml/2006/main">
            <a:off x="540000" y="342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长期：迭代算法，打磨开发者文档与VitePress知识库</a:t>
            </a:r>
          </a:p>
        </p:txBody>
      </p:sp>
      <p:sp>
        <p:nvSpPr>
          <p:cNvPr id="10225" name="TextBox 6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226" name="TextBox 7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行动指南</a:t>
            </a:r>
          </a:p>
        </p:txBody>
      </p:sp>
      <p:sp>
        <p:nvSpPr>
          <p:cNvPr id="10227" name="TextBox 8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架构先行，场景驱动，生态制胜。</a:t>
            </a:r>
          </a:p>
        </p:txBody>
      </p:sp>
    </p:spTree>
  </p:cSld>
</p:sld>
</file>

<file path=ppt/slides/slide2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228" name="TextBox 1"/>
          <p:cNvSpPr/>
          <p:nvPr/>
        </p:nvSpPr>
        <p:spPr>
          <a:xfrm xmlns:a="http://schemas.openxmlformats.org/drawingml/2006/main">
            <a:off x="720000" y="2520000"/>
            <a:ext cx="107532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Georgia"/>
                <a:ea typeface="Georgia"/>
              </a:rPr>
              <a:t>感谢聆听！</a:t>
            </a:r>
          </a:p>
        </p:txBody>
      </p:sp>
      <p:sp>
        <p:nvSpPr>
          <p:cNvPr id="10229" name="TextBox 2"/>
          <p:cNvSpPr/>
          <p:nvPr/>
        </p:nvSpPr>
        <p:spPr>
          <a:xfrm xmlns:a="http://schemas.openxmlformats.org/drawingml/2006/main">
            <a:off x="720000" y="3960000"/>
            <a:ext cx="107532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CADCFC"/>
                </a:solidFill>
                <a:latin typeface="Calibri"/>
                <a:ea typeface="Calibri"/>
              </a:rPr>
              <a:t>Q&amp;A 环节</a:t>
            </a:r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230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补充架构细节：编译与作业投递</a:t>
            </a:r>
          </a:p>
        </p:txBody>
      </p:sp>
      <p:sp>
        <p:nvSpPr>
          <p:cNvPr id="10231" name="TextBox 2"/>
          <p:cNvSpPr/>
          <p:nvPr/>
        </p:nvSpPr>
        <p:spPr>
          <a:xfrm xmlns:a="http://schemas.openxmlformats.org/drawingml/2006/main">
            <a:off x="540000" y="126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后端(BackendSpec)抽象：兼容Statevector与Qiskit</a:t>
            </a:r>
          </a:p>
        </p:txBody>
      </p:sp>
      <p:sp>
        <p:nvSpPr>
          <p:cNvPr id="10232" name="TextBox 3"/>
          <p:cNvSpPr/>
          <p:nvPr/>
        </p:nvSpPr>
        <p:spPr>
          <a:xfrm xmlns:a="http://schemas.openxmlformats.org/drawingml/2006/main">
            <a:off x="540000" y="198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TKET Bridge：统一接管电路优化和资源度量(Metrics)</a:t>
            </a:r>
          </a:p>
        </p:txBody>
      </p:sp>
      <p:sp>
        <p:nvSpPr>
          <p:cNvPr id="10233" name="TextBox 4"/>
          <p:cNvSpPr/>
          <p:nvPr/>
        </p:nvSpPr>
        <p:spPr>
          <a:xfrm xmlns:a="http://schemas.openxmlformats.org/drawingml/2006/main">
            <a:off x="540000" y="270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异步作业类比(Nexus Analog)：通过SQLite支持本地高并发</a:t>
            </a:r>
          </a:p>
        </p:txBody>
      </p:sp>
      <p:sp>
        <p:nvSpPr>
          <p:cNvPr id="10234" name="TextBox 5"/>
          <p:cNvSpPr/>
          <p:nvPr/>
        </p:nvSpPr>
        <p:spPr>
          <a:xfrm xmlns:a="http://schemas.openxmlformats.org/drawingml/2006/main">
            <a:off x="540000" y="342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未来云端入口：预留了HTTP与Job DB的对接点</a:t>
            </a:r>
          </a:p>
        </p:txBody>
      </p:sp>
      <p:sp>
        <p:nvSpPr>
          <p:cNvPr id="10235" name="TextBox 6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236" name="TextBox 7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工程细节</a:t>
            </a:r>
          </a:p>
        </p:txBody>
      </p:sp>
      <p:sp>
        <p:nvSpPr>
          <p:cNvPr id="10237" name="TextBox 8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所有编译和硬件相关的不稳定因素，全部隔离在Backend适配层。</a:t>
            </a:r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238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补充架构细节：Repro与Parity系统</a:t>
            </a:r>
          </a:p>
        </p:txBody>
      </p:sp>
      <p:sp>
        <p:nvSpPr>
          <p:cNvPr id="10239" name="TextBox 2"/>
          <p:cNvSpPr/>
          <p:nvPr/>
        </p:nvSpPr>
        <p:spPr>
          <a:xfrm xmlns:a="http://schemas.openxmlformats.org/drawingml/2006/main">
            <a:off x="540000" y="126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每一条实验配置都生成唯一的Hash</a:t>
            </a:r>
          </a:p>
        </p:txBody>
      </p:sp>
      <p:sp>
        <p:nvSpPr>
          <p:cNvPr id="10240" name="TextBox 3"/>
          <p:cNvSpPr/>
          <p:nvPr/>
        </p:nvSpPr>
        <p:spPr>
          <a:xfrm xmlns:a="http://schemas.openxmlformats.org/drawingml/2006/main">
            <a:off x="540000" y="198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记录详尽的测算资源：线路数、射击数(shots)、编译开销</a:t>
            </a:r>
          </a:p>
        </p:txBody>
      </p:sp>
      <p:sp>
        <p:nvSpPr>
          <p:cNvPr id="10241" name="TextBox 4"/>
          <p:cNvSpPr/>
          <p:nvPr/>
        </p:nvSpPr>
        <p:spPr>
          <a:xfrm xmlns:a="http://schemas.openxmlformats.org/drawingml/2006/main">
            <a:off x="540000" y="270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导出标准JSON，作为可回溯、可审计的唯一真理</a:t>
            </a:r>
          </a:p>
        </p:txBody>
      </p:sp>
      <p:sp>
        <p:nvSpPr>
          <p:cNvPr id="10242" name="TextBox 5"/>
          <p:cNvSpPr/>
          <p:nvPr/>
        </p:nvSpPr>
        <p:spPr>
          <a:xfrm xmlns:a="http://schemas.openxmlformats.org/drawingml/2006/main">
            <a:off x="540000" y="342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这是超越唐吉诃德式脚本库的根本</a:t>
            </a:r>
          </a:p>
        </p:txBody>
      </p:sp>
      <p:sp>
        <p:nvSpPr>
          <p:cNvPr id="10243" name="TextBox 6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244" name="TextBox 7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审计级日志</a:t>
            </a:r>
          </a:p>
        </p:txBody>
      </p:sp>
      <p:sp>
        <p:nvSpPr>
          <p:cNvPr id="10245" name="TextBox 8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可审计性(Auditability)是B端客户采购平台的核心考量。</a:t>
            </a:r>
          </a:p>
        </p:txBody>
      </p:sp>
    </p:spTree>
  </p:cSld>
</p:sld>
</file>

<file path=ppt/slides/slide3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246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团队协作与质量保证</a:t>
            </a:r>
          </a:p>
        </p:txBody>
      </p:sp>
      <p:sp>
        <p:nvSpPr>
          <p:cNvPr id="10247" name="TextBox 2"/>
          <p:cNvSpPr/>
          <p:nvPr/>
        </p:nvSpPr>
        <p:spPr>
          <a:xfrm xmlns:a="http://schemas.openxmlformats.org/drawingml/2006/main">
            <a:off x="540000" y="126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自动化测试(CI)覆盖所有核心路径(Smoke tests)</a:t>
            </a:r>
          </a:p>
        </p:txBody>
      </p:sp>
      <p:sp>
        <p:nvSpPr>
          <p:cNvPr id="10248" name="TextBox 3"/>
          <p:cNvSpPr/>
          <p:nvPr/>
        </p:nvSpPr>
        <p:spPr>
          <a:xfrm xmlns:a="http://schemas.openxmlformats.org/drawingml/2006/main">
            <a:off x="540000" y="198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在PR阶段执行跨后端一致性校验(Conformance)</a:t>
            </a:r>
          </a:p>
        </p:txBody>
      </p:sp>
      <p:sp>
        <p:nvSpPr>
          <p:cNvPr id="10249" name="TextBox 4"/>
          <p:cNvSpPr/>
          <p:nvPr/>
        </p:nvSpPr>
        <p:spPr>
          <a:xfrm xmlns:a="http://schemas.openxmlformats.org/drawingml/2006/main">
            <a:off x="540000" y="270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坚持文档即代码，中文工程台账与英文公开文档同步维护</a:t>
            </a:r>
          </a:p>
        </p:txBody>
      </p:sp>
      <p:sp>
        <p:nvSpPr>
          <p:cNvPr id="10250" name="TextBox 5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251" name="TextBox 6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质量控制</a:t>
            </a:r>
          </a:p>
        </p:txBody>
      </p:sp>
      <p:sp>
        <p:nvSpPr>
          <p:cNvPr id="10252" name="TextBox 7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用现代软件工程的方法，做高精尖的量子平台。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OfficeCLI/1.0.85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2026-05-11T14:48:48Z</dcterms:created>
  <cp:lastModifiedBy>OfficeCLI</cp:lastModifiedBy>
  <dcterms:modified xsi:type="dcterms:W3CDTF">2026-05-11T14:48:48Z</dcterms:modified>
</cp:coreProperties>
</file>